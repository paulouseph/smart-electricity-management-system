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7" r:id="rId2"/>
    <p:sldId id="258" r:id="rId3"/>
    <p:sldId id="259" r:id="rId4"/>
    <p:sldId id="260" r:id="rId5"/>
    <p:sldId id="264" r:id="rId6"/>
    <p:sldId id="261" r:id="rId7"/>
    <p:sldId id="262" r:id="rId8"/>
    <p:sldId id="265" r:id="rId9"/>
    <p:sldId id="266" r:id="rId10"/>
    <p:sldId id="268" r:id="rId11"/>
    <p:sldId id="267" r:id="rId12"/>
    <p:sldId id="263" r:id="rId13"/>
  </p:sldIdLst>
  <p:sldSz cx="12192000" cy="6858000"/>
  <p:notesSz cx="6858000" cy="9144000"/>
  <p:custDataLst>
    <p:tags r:id="rId14"/>
  </p:custDataLst>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6" cy="1405467"/>
          </a:xfrm>
        </p:spPr>
        <p:txBody>
          <a:bodyPr anchor="t">
            <a:normAutofit/>
          </a:bodyPr>
          <a:lstStyle>
            <a:lvl1pPr marL="0" indent="0" algn="r">
              <a:buNone/>
              <a:defRPr sz="1800" cap="all">
                <a:solidFill>
                  <a:schemeClr val="tx1"/>
                </a:solidFill>
              </a:defRPr>
            </a:lvl1pPr>
            <a:lvl2pPr marL="457212" indent="0" algn="ctr">
              <a:buNone/>
              <a:defRPr>
                <a:solidFill>
                  <a:schemeClr val="tx1">
                    <a:tint val="75000"/>
                  </a:schemeClr>
                </a:solidFill>
              </a:defRPr>
            </a:lvl2pPr>
            <a:lvl3pPr marL="914423" indent="0" algn="ctr">
              <a:buNone/>
              <a:defRPr>
                <a:solidFill>
                  <a:schemeClr val="tx1">
                    <a:tint val="75000"/>
                  </a:schemeClr>
                </a:solidFill>
              </a:defRPr>
            </a:lvl3pPr>
            <a:lvl4pPr marL="1371634" indent="0" algn="ctr">
              <a:buNone/>
              <a:defRPr>
                <a:solidFill>
                  <a:schemeClr val="tx1">
                    <a:tint val="75000"/>
                  </a:schemeClr>
                </a:solidFill>
              </a:defRPr>
            </a:lvl4pPr>
            <a:lvl5pPr marL="1828846" indent="0" algn="ctr">
              <a:buNone/>
              <a:defRPr>
                <a:solidFill>
                  <a:schemeClr val="tx1">
                    <a:tint val="75000"/>
                  </a:schemeClr>
                </a:solidFill>
              </a:defRPr>
            </a:lvl5pPr>
            <a:lvl6pPr marL="2286057" indent="0" algn="ctr">
              <a:buNone/>
              <a:defRPr>
                <a:solidFill>
                  <a:schemeClr val="tx1">
                    <a:tint val="75000"/>
                  </a:schemeClr>
                </a:solidFill>
              </a:defRPr>
            </a:lvl6pPr>
            <a:lvl7pPr marL="2743268" indent="0" algn="ctr">
              <a:buNone/>
              <a:defRPr>
                <a:solidFill>
                  <a:schemeClr val="tx1">
                    <a:tint val="75000"/>
                  </a:schemeClr>
                </a:solidFill>
              </a:defRPr>
            </a:lvl7pPr>
            <a:lvl8pPr marL="3200480" indent="0" algn="ctr">
              <a:buNone/>
              <a:defRPr>
                <a:solidFill>
                  <a:schemeClr val="tx1">
                    <a:tint val="75000"/>
                  </a:schemeClr>
                </a:solidFill>
              </a:defRPr>
            </a:lvl8pPr>
            <a:lvl9pPr marL="365769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61" y="5870577"/>
            <a:ext cx="1600201" cy="377825"/>
          </a:xfrm>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a:xfrm>
            <a:off x="3962403" y="5870577"/>
            <a:ext cx="4893957" cy="377825"/>
          </a:xfrm>
        </p:spPr>
        <p:txBody>
          <a:bodyPr/>
          <a:lstStyle/>
          <a:p>
            <a:endParaRPr lang="en-US" dirty="0"/>
          </a:p>
        </p:txBody>
      </p:sp>
      <p:sp>
        <p:nvSpPr>
          <p:cNvPr id="6" name="Slide Number Placeholder 5"/>
          <p:cNvSpPr>
            <a:spLocks noGrp="1"/>
          </p:cNvSpPr>
          <p:nvPr>
            <p:ph type="sldNum" sz="quarter" idx="12"/>
          </p:nvPr>
        </p:nvSpPr>
        <p:spPr>
          <a:xfrm>
            <a:off x="10608959" y="5870577"/>
            <a:ext cx="551166"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3308581"/>
            <a:ext cx="10131428"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6" y="2142067"/>
            <a:ext cx="4995333"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9"/>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12" indent="0">
              <a:buNone/>
              <a:defRPr sz="2000" b="1"/>
            </a:lvl2pPr>
            <a:lvl3pPr marL="914423" indent="0">
              <a:buNone/>
              <a:defRPr sz="1800" b="1"/>
            </a:lvl3pPr>
            <a:lvl4pPr marL="1371634" indent="0">
              <a:buNone/>
              <a:defRPr sz="1600" b="1"/>
            </a:lvl4pPr>
            <a:lvl5pPr marL="1828846" indent="0">
              <a:buNone/>
              <a:defRPr sz="1600" b="1"/>
            </a:lvl5pPr>
            <a:lvl6pPr marL="2286057" indent="0">
              <a:buNone/>
              <a:defRPr sz="1600" b="1"/>
            </a:lvl6pPr>
            <a:lvl7pPr marL="2743268" indent="0">
              <a:buNone/>
              <a:defRPr sz="1600" b="1"/>
            </a:lvl7pPr>
            <a:lvl8pPr marL="3200480" indent="0">
              <a:buNone/>
              <a:defRPr sz="1600" b="1"/>
            </a:lvl8pPr>
            <a:lvl9pPr marL="3657692" indent="0">
              <a:buNone/>
              <a:defRPr sz="1600" b="1"/>
            </a:lvl9pPr>
          </a:lstStyle>
          <a:p>
            <a:pPr lvl="0"/>
            <a:r>
              <a:rPr lang="en-US"/>
              <a:t>Edit Master text styles</a:t>
            </a:r>
          </a:p>
        </p:txBody>
      </p:sp>
      <p:sp>
        <p:nvSpPr>
          <p:cNvPr id="4" name="Content Placeholder 3"/>
          <p:cNvSpPr>
            <a:spLocks noGrp="1"/>
          </p:cNvSpPr>
          <p:nvPr>
            <p:ph sz="half" idx="2"/>
          </p:nvPr>
        </p:nvSpPr>
        <p:spPr>
          <a:xfrm>
            <a:off x="685803"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2" cy="576262"/>
          </a:xfrm>
        </p:spPr>
        <p:txBody>
          <a:bodyPr anchor="b">
            <a:noAutofit/>
          </a:bodyPr>
          <a:lstStyle>
            <a:lvl1pPr marL="0" indent="0">
              <a:buNone/>
              <a:defRPr sz="2800" b="0"/>
            </a:lvl1pPr>
            <a:lvl2pPr marL="457212" indent="0">
              <a:buNone/>
              <a:defRPr sz="2000" b="1"/>
            </a:lvl2pPr>
            <a:lvl3pPr marL="914423" indent="0">
              <a:buNone/>
              <a:defRPr sz="1800" b="1"/>
            </a:lvl3pPr>
            <a:lvl4pPr marL="1371634" indent="0">
              <a:buNone/>
              <a:defRPr sz="1600" b="1"/>
            </a:lvl4pPr>
            <a:lvl5pPr marL="1828846" indent="0">
              <a:buNone/>
              <a:defRPr sz="1600" b="1"/>
            </a:lvl5pPr>
            <a:lvl6pPr marL="2286057" indent="0">
              <a:buNone/>
              <a:defRPr sz="1600" b="1"/>
            </a:lvl6pPr>
            <a:lvl7pPr marL="2743268" indent="0">
              <a:buNone/>
              <a:defRPr sz="1600" b="1"/>
            </a:lvl7pPr>
            <a:lvl8pPr marL="3200480" indent="0">
              <a:buNone/>
              <a:defRPr sz="1600" b="1"/>
            </a:lvl8pPr>
            <a:lvl9pPr marL="3657692" indent="0">
              <a:buNone/>
              <a:defRPr sz="1600" b="1"/>
            </a:lvl9pPr>
          </a:lstStyle>
          <a:p>
            <a:pPr lvl="0"/>
            <a:r>
              <a:rPr lang="en-US"/>
              <a:t>Edit Master text styles</a:t>
            </a:r>
          </a:p>
        </p:txBody>
      </p:sp>
      <p:sp>
        <p:nvSpPr>
          <p:cNvPr id="6" name="Content Placeholder 5"/>
          <p:cNvSpPr>
            <a:spLocks noGrp="1"/>
          </p:cNvSpPr>
          <p:nvPr>
            <p:ph sz="quarter" idx="4"/>
          </p:nvPr>
        </p:nvSpPr>
        <p:spPr>
          <a:xfrm>
            <a:off x="5823485" y="2870201"/>
            <a:ext cx="499533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3"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1" y="3445933"/>
            <a:ext cx="3680885" cy="1828800"/>
          </a:xfrm>
        </p:spPr>
        <p:txBody>
          <a:bodyPr anchor="t">
            <a:normAutofit/>
          </a:bodyPr>
          <a:lstStyle>
            <a:lvl1pPr marL="0" indent="0">
              <a:buNone/>
              <a:defRPr sz="16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8" indent="0">
              <a:buNone/>
              <a:defRPr sz="900"/>
            </a:lvl7pPr>
            <a:lvl8pPr marL="3200480" indent="0">
              <a:buNone/>
              <a:defRPr sz="900"/>
            </a:lvl8pPr>
            <a:lvl9pPr marL="3657692"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4" y="1600200"/>
            <a:ext cx="6164652"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12" indent="0">
              <a:buNone/>
              <a:defRPr sz="1600"/>
            </a:lvl2pPr>
            <a:lvl3pPr marL="914423" indent="0">
              <a:buNone/>
              <a:defRPr sz="1600"/>
            </a:lvl3pPr>
            <a:lvl4pPr marL="1371634" indent="0">
              <a:buNone/>
              <a:defRPr sz="1600"/>
            </a:lvl4pPr>
            <a:lvl5pPr marL="1828846" indent="0">
              <a:buNone/>
              <a:defRPr sz="1600"/>
            </a:lvl5pPr>
            <a:lvl6pPr marL="2286057" indent="0">
              <a:buNone/>
              <a:defRPr sz="1600"/>
            </a:lvl6pPr>
            <a:lvl7pPr marL="2743268" indent="0">
              <a:buNone/>
              <a:defRPr sz="1600"/>
            </a:lvl7pPr>
            <a:lvl8pPr marL="3200480" indent="0">
              <a:buNone/>
              <a:defRPr sz="1600"/>
            </a:lvl8pPr>
            <a:lvl9pPr marL="3657692"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4" y="2971800"/>
            <a:ext cx="6164652" cy="1828800"/>
          </a:xfrm>
        </p:spPr>
        <p:txBody>
          <a:bodyPr anchor="t">
            <a:normAutofit/>
          </a:bodyPr>
          <a:lstStyle>
            <a:lvl1pPr marL="0" indent="0">
              <a:buNone/>
              <a:defRPr sz="18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8" indent="0">
              <a:buNone/>
              <a:defRPr sz="900"/>
            </a:lvl7pPr>
            <a:lvl8pPr marL="3200480" indent="0">
              <a:buNone/>
              <a:defRPr sz="900"/>
            </a:lvl8pPr>
            <a:lvl9pPr marL="3657692"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4732865"/>
            <a:ext cx="10131428"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2" y="932112"/>
            <a:ext cx="8759828"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12" indent="0">
              <a:buNone/>
              <a:defRPr sz="1600"/>
            </a:lvl2pPr>
            <a:lvl3pPr marL="914423" indent="0">
              <a:buNone/>
              <a:defRPr sz="1600"/>
            </a:lvl3pPr>
            <a:lvl4pPr marL="1371634" indent="0">
              <a:buNone/>
              <a:defRPr sz="1600"/>
            </a:lvl4pPr>
            <a:lvl5pPr marL="1828846" indent="0">
              <a:buNone/>
              <a:defRPr sz="1600"/>
            </a:lvl5pPr>
            <a:lvl6pPr marL="2286057" indent="0">
              <a:buNone/>
              <a:defRPr sz="1600"/>
            </a:lvl6pPr>
            <a:lvl7pPr marL="2743268" indent="0">
              <a:buNone/>
              <a:defRPr sz="1600"/>
            </a:lvl7pPr>
            <a:lvl8pPr marL="3200480" indent="0">
              <a:buNone/>
              <a:defRPr sz="1600"/>
            </a:lvl8pPr>
            <a:lvl9pPr marL="3657692"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299603"/>
            <a:ext cx="10131428" cy="493712"/>
          </a:xfrm>
        </p:spPr>
        <p:txBody>
          <a:bodyPr anchor="t">
            <a:normAutofit/>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8" indent="0">
              <a:buNone/>
              <a:defRPr sz="900"/>
            </a:lvl7pPr>
            <a:lvl8pPr marL="3200480" indent="0">
              <a:buNone/>
              <a:defRPr sz="900"/>
            </a:lvl8pPr>
            <a:lvl9pPr marL="3657692"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3"/>
            <a:ext cx="10131428"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343400"/>
            <a:ext cx="10131428" cy="1447800"/>
          </a:xfrm>
        </p:spPr>
        <p:txBody>
          <a:bodyPr anchor="ctr">
            <a:normAutofit/>
          </a:bodyPr>
          <a:lstStyle>
            <a:lvl1pPr marL="0" indent="0" algn="l">
              <a:buNone/>
              <a:defRPr sz="2000">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6"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9" y="609601"/>
            <a:ext cx="9550398"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6" y="3352801"/>
            <a:ext cx="9339184" cy="381000"/>
          </a:xfrm>
        </p:spPr>
        <p:txBody>
          <a:bodyPr anchor="ctr"/>
          <a:lstStyle>
            <a:lvl1pPr marL="0" indent="0">
              <a:buFontTx/>
              <a:buNone/>
              <a:defRPr/>
            </a:lvl1pPr>
            <a:lvl2pPr marL="457212" indent="0">
              <a:buFontTx/>
              <a:buNone/>
              <a:defRPr/>
            </a:lvl2pPr>
            <a:lvl3pPr marL="914423" indent="0">
              <a:buFontTx/>
              <a:buNone/>
              <a:defRPr/>
            </a:lvl3pPr>
            <a:lvl4pPr marL="1371634" indent="0">
              <a:buFontTx/>
              <a:buNone/>
              <a:defRPr/>
            </a:lvl4pPr>
            <a:lvl5pPr marL="1828846" indent="0">
              <a:buFontTx/>
              <a:buNone/>
              <a:defRPr/>
            </a:lvl5pPr>
          </a:lstStyle>
          <a:p>
            <a:pPr lvl="0"/>
            <a:r>
              <a:rPr lang="en-US"/>
              <a:t>Edit Master text styles</a:t>
            </a:r>
          </a:p>
        </p:txBody>
      </p:sp>
      <p:sp>
        <p:nvSpPr>
          <p:cNvPr id="3" name="Text Placeholder 2"/>
          <p:cNvSpPr>
            <a:spLocks noGrp="1"/>
          </p:cNvSpPr>
          <p:nvPr>
            <p:ph type="body" idx="1"/>
          </p:nvPr>
        </p:nvSpPr>
        <p:spPr>
          <a:xfrm>
            <a:off x="687467" y="4343400"/>
            <a:ext cx="10152366" cy="1447800"/>
          </a:xfrm>
        </p:spPr>
        <p:txBody>
          <a:bodyPr anchor="ctr">
            <a:normAutofit/>
          </a:bodyPr>
          <a:lstStyle>
            <a:lvl1pPr marL="0" indent="0" algn="l">
              <a:buNone/>
              <a:defRPr sz="2000">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3" y="3308581"/>
            <a:ext cx="10131426"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3" y="4777381"/>
            <a:ext cx="10131426" cy="860400"/>
          </a:xfrm>
        </p:spPr>
        <p:txBody>
          <a:bodyPr anchor="t">
            <a:normAutofit/>
          </a:bodyPr>
          <a:lstStyle>
            <a:lvl1pPr marL="0" indent="0" algn="l">
              <a:buNone/>
              <a:defRPr sz="2000">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6"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9" y="609601"/>
            <a:ext cx="9550398"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775200"/>
            <a:ext cx="10135436" cy="1016000"/>
          </a:xfrm>
        </p:spPr>
        <p:txBody>
          <a:bodyPr anchor="t">
            <a:normAutofit/>
          </a:bodyPr>
          <a:lstStyle>
            <a:lvl1pPr marL="0" indent="0" algn="l">
              <a:buNone/>
              <a:defRPr sz="1800">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8"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1" y="4343400"/>
            <a:ext cx="10131428" cy="1447800"/>
          </a:xfrm>
        </p:spPr>
        <p:txBody>
          <a:bodyPr anchor="t">
            <a:normAutofit/>
          </a:bodyPr>
          <a:lstStyle>
            <a:lvl1pPr marL="0" indent="0" algn="l">
              <a:buNone/>
              <a:defRPr sz="1800">
                <a:solidFill>
                  <a:schemeClr val="tx1"/>
                </a:solidFill>
              </a:defRPr>
            </a:lvl1pPr>
            <a:lvl2pPr marL="457212" indent="0">
              <a:buNone/>
              <a:defRPr sz="1800">
                <a:solidFill>
                  <a:schemeClr val="tx1">
                    <a:tint val="75000"/>
                  </a:schemeClr>
                </a:solidFill>
              </a:defRPr>
            </a:lvl2pPr>
            <a:lvl3pPr marL="914423" indent="0">
              <a:buNone/>
              <a:defRPr sz="1600">
                <a:solidFill>
                  <a:schemeClr val="tx1">
                    <a:tint val="75000"/>
                  </a:schemeClr>
                </a:solidFill>
              </a:defRPr>
            </a:lvl3pPr>
            <a:lvl4pPr marL="1371634" indent="0">
              <a:buNone/>
              <a:defRPr sz="1400">
                <a:solidFill>
                  <a:schemeClr val="tx1">
                    <a:tint val="75000"/>
                  </a:schemeClr>
                </a:solidFill>
              </a:defRPr>
            </a:lvl4pPr>
            <a:lvl5pPr marL="1828846" indent="0">
              <a:buNone/>
              <a:defRPr sz="1400">
                <a:solidFill>
                  <a:schemeClr val="tx1">
                    <a:tint val="75000"/>
                  </a:schemeClr>
                </a:solidFill>
              </a:defRPr>
            </a:lvl5pPr>
            <a:lvl6pPr marL="2286057" indent="0">
              <a:buNone/>
              <a:defRPr sz="1400">
                <a:solidFill>
                  <a:schemeClr val="tx1">
                    <a:tint val="75000"/>
                  </a:schemeClr>
                </a:solidFill>
              </a:defRPr>
            </a:lvl6pPr>
            <a:lvl7pPr marL="2743268" indent="0">
              <a:buNone/>
              <a:defRPr sz="1400">
                <a:solidFill>
                  <a:schemeClr val="tx1">
                    <a:tint val="75000"/>
                  </a:schemeClr>
                </a:solidFill>
              </a:defRPr>
            </a:lvl7pPr>
            <a:lvl8pPr marL="3200480" indent="0">
              <a:buNone/>
              <a:defRPr sz="1400">
                <a:solidFill>
                  <a:schemeClr val="tx1">
                    <a:tint val="75000"/>
                  </a:schemeClr>
                </a:solidFill>
              </a:defRPr>
            </a:lvl8pPr>
            <a:lvl9pPr marL="3657692"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3" y="609602"/>
            <a:ext cx="10131426"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4" y="609601"/>
            <a:ext cx="2158553"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3" y="609601"/>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3" y="609602"/>
            <a:ext cx="10131426"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3" y="2142069"/>
            <a:ext cx="10131426"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3" y="5870577"/>
            <a:ext cx="1600201"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4/14/2025</a:t>
            </a:fld>
            <a:endParaRPr lang="en-US" dirty="0"/>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1" y="5870577"/>
            <a:ext cx="55116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12"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7" indent="-285757" algn="l" defTabSz="457212"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69" indent="-285757" algn="l" defTabSz="457212"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80" indent="-285757" algn="l" defTabSz="457212"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88" indent="-171454"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300" indent="-171454"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64" indent="-228606"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74" indent="-228606"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86" indent="-228606"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97" indent="-228606" algn="l" defTabSz="457212"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12" rtl="0" eaLnBrk="1" latinLnBrk="0" hangingPunct="1">
        <a:defRPr sz="1800" kern="1200">
          <a:solidFill>
            <a:schemeClr val="tx1"/>
          </a:solidFill>
          <a:latin typeface="+mn-lt"/>
          <a:ea typeface="+mn-ea"/>
          <a:cs typeface="+mn-cs"/>
        </a:defRPr>
      </a:lvl1pPr>
      <a:lvl2pPr marL="457212" algn="l" defTabSz="457212" rtl="0" eaLnBrk="1" latinLnBrk="0" hangingPunct="1">
        <a:defRPr sz="1800" kern="1200">
          <a:solidFill>
            <a:schemeClr val="tx1"/>
          </a:solidFill>
          <a:latin typeface="+mn-lt"/>
          <a:ea typeface="+mn-ea"/>
          <a:cs typeface="+mn-cs"/>
        </a:defRPr>
      </a:lvl2pPr>
      <a:lvl3pPr marL="914423" algn="l" defTabSz="457212" rtl="0" eaLnBrk="1" latinLnBrk="0" hangingPunct="1">
        <a:defRPr sz="1800" kern="1200">
          <a:solidFill>
            <a:schemeClr val="tx1"/>
          </a:solidFill>
          <a:latin typeface="+mn-lt"/>
          <a:ea typeface="+mn-ea"/>
          <a:cs typeface="+mn-cs"/>
        </a:defRPr>
      </a:lvl3pPr>
      <a:lvl4pPr marL="1371634" algn="l" defTabSz="457212" rtl="0" eaLnBrk="1" latinLnBrk="0" hangingPunct="1">
        <a:defRPr sz="1800" kern="1200">
          <a:solidFill>
            <a:schemeClr val="tx1"/>
          </a:solidFill>
          <a:latin typeface="+mn-lt"/>
          <a:ea typeface="+mn-ea"/>
          <a:cs typeface="+mn-cs"/>
        </a:defRPr>
      </a:lvl4pPr>
      <a:lvl5pPr marL="1828846" algn="l" defTabSz="457212" rtl="0" eaLnBrk="1" latinLnBrk="0" hangingPunct="1">
        <a:defRPr sz="1800" kern="1200">
          <a:solidFill>
            <a:schemeClr val="tx1"/>
          </a:solidFill>
          <a:latin typeface="+mn-lt"/>
          <a:ea typeface="+mn-ea"/>
          <a:cs typeface="+mn-cs"/>
        </a:defRPr>
      </a:lvl5pPr>
      <a:lvl6pPr marL="2286057" algn="l" defTabSz="457212" rtl="0" eaLnBrk="1" latinLnBrk="0" hangingPunct="1">
        <a:defRPr sz="1800" kern="1200">
          <a:solidFill>
            <a:schemeClr val="tx1"/>
          </a:solidFill>
          <a:latin typeface="+mn-lt"/>
          <a:ea typeface="+mn-ea"/>
          <a:cs typeface="+mn-cs"/>
        </a:defRPr>
      </a:lvl6pPr>
      <a:lvl7pPr marL="2743268" algn="l" defTabSz="457212" rtl="0" eaLnBrk="1" latinLnBrk="0" hangingPunct="1">
        <a:defRPr sz="1800" kern="1200">
          <a:solidFill>
            <a:schemeClr val="tx1"/>
          </a:solidFill>
          <a:latin typeface="+mn-lt"/>
          <a:ea typeface="+mn-ea"/>
          <a:cs typeface="+mn-cs"/>
        </a:defRPr>
      </a:lvl7pPr>
      <a:lvl8pPr marL="3200480" algn="l" defTabSz="457212" rtl="0" eaLnBrk="1" latinLnBrk="0" hangingPunct="1">
        <a:defRPr sz="1800" kern="1200">
          <a:solidFill>
            <a:schemeClr val="tx1"/>
          </a:solidFill>
          <a:latin typeface="+mn-lt"/>
          <a:ea typeface="+mn-ea"/>
          <a:cs typeface="+mn-cs"/>
        </a:defRPr>
      </a:lvl8pPr>
      <a:lvl9pPr marL="3657692" algn="l" defTabSz="45721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
        <p:cNvGrpSpPr/>
        <p:nvPr/>
      </p:nvGrpSpPr>
      <p:grpSpPr>
        <a:xfrm>
          <a:off x="0" y="0"/>
          <a:ext cx="0" cy="0"/>
          <a:chOff x="0" y="0"/>
          <a:chExt cx="0" cy="0"/>
        </a:xfrm>
      </p:grpSpPr>
      <p:sp>
        <p:nvSpPr>
          <p:cNvPr id="19" name="Google Shape;19;p1"/>
          <p:cNvSpPr txBox="1">
            <a:spLocks noGrp="1"/>
          </p:cNvSpPr>
          <p:nvPr>
            <p:ph type="title"/>
          </p:nvPr>
        </p:nvSpPr>
        <p:spPr>
          <a:xfrm>
            <a:off x="685801" y="609600"/>
            <a:ext cx="10131300" cy="14562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lt1"/>
              </a:buClr>
              <a:buSzPts val="4800"/>
            </a:pPr>
            <a:r>
              <a:rPr lang="en-US" sz="4800" b="1" dirty="0"/>
              <a:t>INTRODUCTION</a:t>
            </a:r>
            <a:endParaRPr sz="4800" b="1" dirty="0"/>
          </a:p>
        </p:txBody>
      </p:sp>
      <p:sp>
        <p:nvSpPr>
          <p:cNvPr id="20" name="Google Shape;20;p1"/>
          <p:cNvSpPr txBox="1">
            <a:spLocks noGrp="1"/>
          </p:cNvSpPr>
          <p:nvPr>
            <p:ph type="body" idx="1"/>
          </p:nvPr>
        </p:nvSpPr>
        <p:spPr>
          <a:xfrm>
            <a:off x="685801" y="2142066"/>
            <a:ext cx="10131300" cy="35667985"/>
          </a:xfrm>
          <a:prstGeom prst="rect">
            <a:avLst/>
          </a:prstGeom>
          <a:noFill/>
          <a:ln>
            <a:noFill/>
          </a:ln>
        </p:spPr>
        <p:txBody>
          <a:bodyPr spcFirstLastPara="1" vert="horz" wrap="square" lIns="91425" tIns="45700" rIns="91425" bIns="45700" rtlCol="0" anchor="ctr" anchorCtr="0">
            <a:normAutofit/>
          </a:bodyPr>
          <a:lstStyle/>
          <a:p>
            <a:pPr marL="0" indent="0" algn="ctr">
              <a:spcAft>
                <a:spcPts val="0"/>
              </a:spcAft>
              <a:buSzPts val="3200"/>
              <a:buNone/>
            </a:pPr>
            <a:r>
              <a:rPr lang="en-US" sz="3200" dirty="0"/>
              <a:t> </a:t>
            </a:r>
            <a:endParaRPr sz="3200" dirty="0"/>
          </a:p>
        </p:txBody>
      </p:sp>
      <p:sp>
        <p:nvSpPr>
          <p:cNvPr id="4" name="Rectangle 3">
            <a:extLst>
              <a:ext uri="{FF2B5EF4-FFF2-40B4-BE49-F238E27FC236}">
                <a16:creationId xmlns:a16="http://schemas.microsoft.com/office/drawing/2014/main" id="{D8003FBB-D7E5-496A-99DA-D5BCE69DB09C}"/>
              </a:ext>
            </a:extLst>
          </p:cNvPr>
          <p:cNvSpPr>
            <a:spLocks noChangeArrowheads="1"/>
          </p:cNvSpPr>
          <p:nvPr/>
        </p:nvSpPr>
        <p:spPr bwMode="auto">
          <a:xfrm>
            <a:off x="1156591" y="2213448"/>
            <a:ext cx="9189719"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23" eaLnBrk="0" fontAlgn="base" hangingPunct="0">
              <a:spcBef>
                <a:spcPct val="0"/>
              </a:spcBef>
              <a:spcAft>
                <a:spcPct val="0"/>
              </a:spcAft>
            </a:pPr>
            <a:r>
              <a:rPr lang="en-US" altLang="en-US" sz="2500" dirty="0">
                <a:latin typeface="Arial" panose="020B0604020202020204" pitchFamily="34" charset="0"/>
              </a:rPr>
              <a:t>The Smart Electricity Management System ensures efficient energy use through real-time monitoring, analysis, and control. It integrates ACS712 and ZMPT101B sensors, Arduino Uno, ESP32, relay modules, and Firebase database to track voltage and current data, calculate units, and display insights on a web interface. Users can monitor consumption, control appliances remotely, and view dynamic cost calculations.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365" y="193963"/>
            <a:ext cx="10131425" cy="1456267"/>
          </a:xfrm>
        </p:spPr>
        <p:txBody>
          <a:bodyPr>
            <a:normAutofit/>
          </a:bodyPr>
          <a:lstStyle/>
          <a:p>
            <a:pPr algn="ctr"/>
            <a:r>
              <a:rPr lang="en-US" sz="4000" b="1" dirty="0"/>
              <a:t>Hardware Components Used</a:t>
            </a:r>
          </a:p>
        </p:txBody>
      </p:sp>
      <p:sp>
        <p:nvSpPr>
          <p:cNvPr id="3" name="Content Placeholder 2"/>
          <p:cNvSpPr>
            <a:spLocks noGrp="1"/>
          </p:cNvSpPr>
          <p:nvPr>
            <p:ph idx="1"/>
          </p:nvPr>
        </p:nvSpPr>
        <p:spPr>
          <a:xfrm>
            <a:off x="381000" y="1507082"/>
            <a:ext cx="8485909" cy="3843836"/>
          </a:xfrm>
        </p:spPr>
        <p:txBody>
          <a:bodyPr>
            <a:normAutofit fontScale="92500" lnSpcReduction="20000"/>
          </a:bodyPr>
          <a:lstStyle/>
          <a:p>
            <a:pPr algn="just"/>
            <a:r>
              <a:rPr lang="en-US" sz="2000" b="1" dirty="0"/>
              <a:t>ESP32:</a:t>
            </a:r>
            <a:r>
              <a:rPr lang="en-US" sz="2000" dirty="0"/>
              <a:t> Acts as the primary microcontroller for data transmission between the Firebase Realtime Database and Arduino Uno. It collects sensor data, calculates power consumption in kW, sends the results to Firebase, and receives on/off commands to relay back to the Arduino Uno.</a:t>
            </a:r>
          </a:p>
          <a:p>
            <a:pPr algn="just"/>
            <a:r>
              <a:rPr lang="en-IN" sz="2000" b="1" dirty="0"/>
              <a:t>ACS712 Current Sensor: </a:t>
            </a:r>
            <a:r>
              <a:rPr lang="en-US" sz="2000" dirty="0"/>
              <a:t>Measures the real-time current usage of connected appliances.</a:t>
            </a:r>
          </a:p>
          <a:p>
            <a:pPr algn="just"/>
            <a:r>
              <a:rPr lang="en-IN" sz="2000" b="1" dirty="0"/>
              <a:t>ZMPT101B Voltage Sensor: </a:t>
            </a:r>
            <a:r>
              <a:rPr lang="en-IN" sz="2000" dirty="0"/>
              <a:t>Monitors voltage levels to ensure accurate power analysis.</a:t>
            </a:r>
            <a:endParaRPr lang="en-US" sz="2000" dirty="0"/>
          </a:p>
          <a:p>
            <a:pPr algn="just"/>
            <a:r>
              <a:rPr lang="en-US" sz="2000" b="1" dirty="0"/>
              <a:t>Relay Module:</a:t>
            </a:r>
            <a:r>
              <a:rPr lang="en-US" sz="2000" dirty="0"/>
              <a:t> Facilitates remote control by enabling appliances to be switched on or off.</a:t>
            </a:r>
          </a:p>
          <a:p>
            <a:pPr algn="just"/>
            <a:r>
              <a:rPr lang="en-US" sz="2000" b="1" dirty="0"/>
              <a:t>Arduino Uno:</a:t>
            </a:r>
            <a:r>
              <a:rPr lang="en-US" sz="2000" dirty="0"/>
              <a:t> Collects data from the current and voltage sensors and forwards it to the ESP32. It also receives on/off commands from the ESP32 and controls the relay module accordingly.</a:t>
            </a:r>
            <a:endParaRPr lang="en-IN" sz="2000" dirty="0"/>
          </a:p>
        </p:txBody>
      </p:sp>
      <p:pic>
        <p:nvPicPr>
          <p:cNvPr id="7" name="Picture 6">
            <a:extLst>
              <a:ext uri="{FF2B5EF4-FFF2-40B4-BE49-F238E27FC236}">
                <a16:creationId xmlns:a16="http://schemas.microsoft.com/office/drawing/2014/main" id="{CAC0B732-8272-47E2-A584-AAB5D883BB84}"/>
              </a:ext>
            </a:extLst>
          </p:cNvPr>
          <p:cNvPicPr>
            <a:picLocks noChangeAspect="1"/>
          </p:cNvPicPr>
          <p:nvPr/>
        </p:nvPicPr>
        <p:blipFill>
          <a:blip r:embed="rId2"/>
          <a:stretch>
            <a:fillRect/>
          </a:stretch>
        </p:blipFill>
        <p:spPr>
          <a:xfrm>
            <a:off x="9213274" y="1507082"/>
            <a:ext cx="2597726" cy="4062914"/>
          </a:xfrm>
          <a:prstGeom prst="rect">
            <a:avLst/>
          </a:prstGeom>
        </p:spPr>
      </p:pic>
      <p:sp>
        <p:nvSpPr>
          <p:cNvPr id="8" name="TextBox 7">
            <a:extLst>
              <a:ext uri="{FF2B5EF4-FFF2-40B4-BE49-F238E27FC236}">
                <a16:creationId xmlns:a16="http://schemas.microsoft.com/office/drawing/2014/main" id="{38C2894C-1B1A-4BBE-8788-7D7C12241D99}"/>
              </a:ext>
            </a:extLst>
          </p:cNvPr>
          <p:cNvSpPr txBox="1"/>
          <p:nvPr/>
        </p:nvSpPr>
        <p:spPr>
          <a:xfrm>
            <a:off x="9829902" y="5567592"/>
            <a:ext cx="1364469" cy="630942"/>
          </a:xfrm>
          <a:prstGeom prst="rect">
            <a:avLst/>
          </a:prstGeom>
          <a:noFill/>
        </p:spPr>
        <p:txBody>
          <a:bodyPr wrap="square" rtlCol="0">
            <a:spAutoFit/>
          </a:bodyPr>
          <a:lstStyle/>
          <a:p>
            <a:r>
              <a:rPr lang="en-US" sz="3500" dirty="0"/>
              <a:t>esp32</a:t>
            </a:r>
            <a:endParaRPr lang="en-IN" sz="3500" dirty="0"/>
          </a:p>
        </p:txBody>
      </p:sp>
    </p:spTree>
    <p:extLst>
      <p:ext uri="{BB962C8B-B14F-4D97-AF65-F5344CB8AC3E}">
        <p14:creationId xmlns:p14="http://schemas.microsoft.com/office/powerpoint/2010/main" val="873320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3FAAA8-FB94-4B51-B66D-14BFDB3583AA}"/>
              </a:ext>
            </a:extLst>
          </p:cNvPr>
          <p:cNvPicPr>
            <a:picLocks noChangeAspect="1"/>
          </p:cNvPicPr>
          <p:nvPr/>
        </p:nvPicPr>
        <p:blipFill>
          <a:blip r:embed="rId2"/>
          <a:stretch>
            <a:fillRect/>
          </a:stretch>
        </p:blipFill>
        <p:spPr>
          <a:xfrm>
            <a:off x="7649028" y="638971"/>
            <a:ext cx="3631745" cy="5863564"/>
          </a:xfrm>
          <a:prstGeom prst="rect">
            <a:avLst/>
          </a:prstGeom>
        </p:spPr>
      </p:pic>
      <p:pic>
        <p:nvPicPr>
          <p:cNvPr id="11" name="Picture 10">
            <a:extLst>
              <a:ext uri="{FF2B5EF4-FFF2-40B4-BE49-F238E27FC236}">
                <a16:creationId xmlns:a16="http://schemas.microsoft.com/office/drawing/2014/main" id="{6D7D73DE-3AA4-49BB-BD60-66BE7AB4260A}"/>
              </a:ext>
            </a:extLst>
          </p:cNvPr>
          <p:cNvPicPr>
            <a:picLocks noChangeAspect="1"/>
          </p:cNvPicPr>
          <p:nvPr/>
        </p:nvPicPr>
        <p:blipFill>
          <a:blip r:embed="rId3"/>
          <a:stretch>
            <a:fillRect/>
          </a:stretch>
        </p:blipFill>
        <p:spPr>
          <a:xfrm>
            <a:off x="1070885" y="755085"/>
            <a:ext cx="4119719" cy="5711732"/>
          </a:xfrm>
          <a:prstGeom prst="rect">
            <a:avLst/>
          </a:prstGeom>
        </p:spPr>
      </p:pic>
      <p:sp>
        <p:nvSpPr>
          <p:cNvPr id="14" name="TextBox 13">
            <a:extLst>
              <a:ext uri="{FF2B5EF4-FFF2-40B4-BE49-F238E27FC236}">
                <a16:creationId xmlns:a16="http://schemas.microsoft.com/office/drawing/2014/main" id="{ADA2E9B6-529D-4127-AC06-AD573AD35919}"/>
              </a:ext>
            </a:extLst>
          </p:cNvPr>
          <p:cNvSpPr txBox="1"/>
          <p:nvPr/>
        </p:nvSpPr>
        <p:spPr>
          <a:xfrm>
            <a:off x="1875258" y="201087"/>
            <a:ext cx="2510972" cy="553998"/>
          </a:xfrm>
          <a:prstGeom prst="rect">
            <a:avLst/>
          </a:prstGeom>
          <a:noFill/>
        </p:spPr>
        <p:txBody>
          <a:bodyPr wrap="square" rtlCol="0">
            <a:spAutoFit/>
          </a:bodyPr>
          <a:lstStyle/>
          <a:p>
            <a:r>
              <a:rPr lang="en-US" sz="3000" b="1" dirty="0" err="1"/>
              <a:t>Ardino</a:t>
            </a:r>
            <a:r>
              <a:rPr lang="en-US" sz="3000" b="1" dirty="0"/>
              <a:t> uno</a:t>
            </a:r>
            <a:endParaRPr lang="en-IN" sz="3000" b="1" dirty="0"/>
          </a:p>
        </p:txBody>
      </p:sp>
      <p:sp>
        <p:nvSpPr>
          <p:cNvPr id="15" name="TextBox 14">
            <a:extLst>
              <a:ext uri="{FF2B5EF4-FFF2-40B4-BE49-F238E27FC236}">
                <a16:creationId xmlns:a16="http://schemas.microsoft.com/office/drawing/2014/main" id="{8A38F2C3-ADA0-41BD-86E9-91C2ECEF0875}"/>
              </a:ext>
            </a:extLst>
          </p:cNvPr>
          <p:cNvSpPr txBox="1"/>
          <p:nvPr/>
        </p:nvSpPr>
        <p:spPr>
          <a:xfrm>
            <a:off x="7605485" y="128153"/>
            <a:ext cx="4066914" cy="523220"/>
          </a:xfrm>
          <a:prstGeom prst="rect">
            <a:avLst/>
          </a:prstGeom>
          <a:noFill/>
        </p:spPr>
        <p:txBody>
          <a:bodyPr wrap="square" rtlCol="0">
            <a:spAutoFit/>
          </a:bodyPr>
          <a:lstStyle/>
          <a:p>
            <a:r>
              <a:rPr lang="en-IN" sz="2800" b="1" dirty="0"/>
              <a:t>ACS712 Current Sensor</a:t>
            </a:r>
          </a:p>
        </p:txBody>
      </p:sp>
    </p:spTree>
    <p:extLst>
      <p:ext uri="{BB962C8B-B14F-4D97-AF65-F5344CB8AC3E}">
        <p14:creationId xmlns:p14="http://schemas.microsoft.com/office/powerpoint/2010/main" val="2434575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EE1BFF-FA9B-4FB6-A18A-3FB0144C1723}"/>
              </a:ext>
            </a:extLst>
          </p:cNvPr>
          <p:cNvPicPr>
            <a:picLocks noChangeAspect="1"/>
          </p:cNvPicPr>
          <p:nvPr/>
        </p:nvPicPr>
        <p:blipFill>
          <a:blip r:embed="rId2"/>
          <a:stretch>
            <a:fillRect/>
          </a:stretch>
        </p:blipFill>
        <p:spPr>
          <a:xfrm>
            <a:off x="580158" y="856344"/>
            <a:ext cx="3800120" cy="5410550"/>
          </a:xfrm>
          <a:prstGeom prst="rect">
            <a:avLst/>
          </a:prstGeom>
        </p:spPr>
      </p:pic>
      <p:pic>
        <p:nvPicPr>
          <p:cNvPr id="5" name="Picture 4">
            <a:extLst>
              <a:ext uri="{FF2B5EF4-FFF2-40B4-BE49-F238E27FC236}">
                <a16:creationId xmlns:a16="http://schemas.microsoft.com/office/drawing/2014/main" id="{BD332E0D-6BD3-4D0A-9777-8AFC21E65BCB}"/>
              </a:ext>
            </a:extLst>
          </p:cNvPr>
          <p:cNvPicPr>
            <a:picLocks noChangeAspect="1"/>
          </p:cNvPicPr>
          <p:nvPr/>
        </p:nvPicPr>
        <p:blipFill>
          <a:blip r:embed="rId3"/>
          <a:stretch>
            <a:fillRect/>
          </a:stretch>
        </p:blipFill>
        <p:spPr>
          <a:xfrm>
            <a:off x="7625946" y="856345"/>
            <a:ext cx="3508898" cy="5319246"/>
          </a:xfrm>
          <a:prstGeom prst="rect">
            <a:avLst/>
          </a:prstGeom>
        </p:spPr>
      </p:pic>
      <p:sp>
        <p:nvSpPr>
          <p:cNvPr id="6" name="TextBox 5">
            <a:extLst>
              <a:ext uri="{FF2B5EF4-FFF2-40B4-BE49-F238E27FC236}">
                <a16:creationId xmlns:a16="http://schemas.microsoft.com/office/drawing/2014/main" id="{D4F7339B-02A9-4767-9B60-5B595D548F4B}"/>
              </a:ext>
            </a:extLst>
          </p:cNvPr>
          <p:cNvSpPr txBox="1"/>
          <p:nvPr/>
        </p:nvSpPr>
        <p:spPr>
          <a:xfrm>
            <a:off x="1007017" y="314107"/>
            <a:ext cx="2946401" cy="553998"/>
          </a:xfrm>
          <a:prstGeom prst="rect">
            <a:avLst/>
          </a:prstGeom>
          <a:noFill/>
        </p:spPr>
        <p:txBody>
          <a:bodyPr wrap="square" rtlCol="0">
            <a:spAutoFit/>
          </a:bodyPr>
          <a:lstStyle/>
          <a:p>
            <a:r>
              <a:rPr lang="en-US" sz="3000" dirty="0"/>
              <a:t>RELAY MODULE</a:t>
            </a:r>
            <a:endParaRPr lang="en-IN" sz="3000" dirty="0"/>
          </a:p>
        </p:txBody>
      </p:sp>
      <p:sp>
        <p:nvSpPr>
          <p:cNvPr id="7" name="TextBox 6">
            <a:extLst>
              <a:ext uri="{FF2B5EF4-FFF2-40B4-BE49-F238E27FC236}">
                <a16:creationId xmlns:a16="http://schemas.microsoft.com/office/drawing/2014/main" id="{0ABA50E8-DCAC-4863-A788-345DF7A29518}"/>
              </a:ext>
            </a:extLst>
          </p:cNvPr>
          <p:cNvSpPr txBox="1"/>
          <p:nvPr/>
        </p:nvSpPr>
        <p:spPr>
          <a:xfrm>
            <a:off x="7199086" y="354329"/>
            <a:ext cx="4659086" cy="553998"/>
          </a:xfrm>
          <a:prstGeom prst="rect">
            <a:avLst/>
          </a:prstGeom>
          <a:noFill/>
        </p:spPr>
        <p:txBody>
          <a:bodyPr wrap="square" rtlCol="0">
            <a:spAutoFit/>
          </a:bodyPr>
          <a:lstStyle/>
          <a:p>
            <a:r>
              <a:rPr lang="en-IN" sz="3000" dirty="0"/>
              <a:t>ZMPT101B Voltage Sensor:</a:t>
            </a:r>
          </a:p>
        </p:txBody>
      </p:sp>
    </p:spTree>
    <p:extLst>
      <p:ext uri="{BB962C8B-B14F-4D97-AF65-F5344CB8AC3E}">
        <p14:creationId xmlns:p14="http://schemas.microsoft.com/office/powerpoint/2010/main" val="112917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DD993E-D630-4F1B-A008-633D71C9CC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124221" y="-1"/>
            <a:ext cx="7666893" cy="6858001"/>
          </a:xfrm>
          <a:prstGeom prst="rect">
            <a:avLst/>
          </a:prstGeom>
        </p:spPr>
      </p:pic>
    </p:spTree>
    <p:extLst>
      <p:ext uri="{BB962C8B-B14F-4D97-AF65-F5344CB8AC3E}">
        <p14:creationId xmlns:p14="http://schemas.microsoft.com/office/powerpoint/2010/main" val="1451514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77771" y="0"/>
            <a:ext cx="4435769" cy="1164229"/>
          </a:xfrm>
        </p:spPr>
        <p:txBody>
          <a:bodyPr>
            <a:normAutofit fontScale="90000"/>
          </a:bodyPr>
          <a:lstStyle/>
          <a:p>
            <a:r>
              <a:rPr lang="en-IN" b="1" dirty="0"/>
              <a:t>Database Design</a:t>
            </a:r>
          </a:p>
        </p:txBody>
      </p:sp>
      <p:sp>
        <p:nvSpPr>
          <p:cNvPr id="6" name="Subtitle 5">
            <a:extLst>
              <a:ext uri="{FF2B5EF4-FFF2-40B4-BE49-F238E27FC236}">
                <a16:creationId xmlns:a16="http://schemas.microsoft.com/office/drawing/2014/main" id="{4BFF978E-C194-42B1-AB96-77F6C94D643B}"/>
              </a:ext>
            </a:extLst>
          </p:cNvPr>
          <p:cNvSpPr>
            <a:spLocks noGrp="1"/>
          </p:cNvSpPr>
          <p:nvPr>
            <p:ph type="subTitle" idx="1"/>
          </p:nvPr>
        </p:nvSpPr>
        <p:spPr>
          <a:xfrm>
            <a:off x="654146" y="1373164"/>
            <a:ext cx="9683017" cy="1549790"/>
          </a:xfrm>
        </p:spPr>
        <p:txBody>
          <a:bodyPr>
            <a:normAutofit fontScale="92500" lnSpcReduction="20000"/>
          </a:bodyPr>
          <a:lstStyle/>
          <a:p>
            <a:pPr marL="285750" indent="-285750" algn="l">
              <a:spcAft>
                <a:spcPts val="1440"/>
              </a:spcAft>
              <a:buFont typeface="Arial" panose="020B0604020202020204" pitchFamily="34" charset="0"/>
              <a:buChar char="•"/>
            </a:pPr>
            <a:r>
              <a:rPr lang="en-US" dirty="0"/>
              <a:t>We use Firebase Realtime Database to store electricity usage data, user authentication details, and system settings.</a:t>
            </a:r>
          </a:p>
          <a:p>
            <a:pPr marL="285750" indent="-285750" algn="l">
              <a:spcAft>
                <a:spcPts val="2880"/>
              </a:spcAft>
              <a:buFont typeface="Arial" panose="020B0604020202020204" pitchFamily="34" charset="0"/>
              <a:buChar char="•"/>
            </a:pPr>
            <a:r>
              <a:rPr lang="en-US" dirty="0"/>
              <a:t>No backend is used. Data is fetched and updated using JavaScript in the front end and ESP32 directly.</a:t>
            </a:r>
          </a:p>
          <a:p>
            <a:pPr algn="l"/>
            <a:endParaRPr lang="en-IN" dirty="0"/>
          </a:p>
        </p:txBody>
      </p:sp>
      <p:pic>
        <p:nvPicPr>
          <p:cNvPr id="11" name="Picture 10">
            <a:extLst>
              <a:ext uri="{FF2B5EF4-FFF2-40B4-BE49-F238E27FC236}">
                <a16:creationId xmlns:a16="http://schemas.microsoft.com/office/drawing/2014/main" id="{DB278837-F9D7-4F10-892B-B27AF77245DD}"/>
              </a:ext>
            </a:extLst>
          </p:cNvPr>
          <p:cNvPicPr>
            <a:picLocks noChangeAspect="1"/>
          </p:cNvPicPr>
          <p:nvPr/>
        </p:nvPicPr>
        <p:blipFill>
          <a:blip r:embed="rId2"/>
          <a:stretch>
            <a:fillRect/>
          </a:stretch>
        </p:blipFill>
        <p:spPr>
          <a:xfrm>
            <a:off x="1057557" y="2429938"/>
            <a:ext cx="8464939" cy="4204941"/>
          </a:xfrm>
          <a:prstGeom prst="rect">
            <a:avLst/>
          </a:prstGeom>
        </p:spPr>
      </p:pic>
    </p:spTree>
    <p:extLst>
      <p:ext uri="{BB962C8B-B14F-4D97-AF65-F5344CB8AC3E}">
        <p14:creationId xmlns:p14="http://schemas.microsoft.com/office/powerpoint/2010/main" val="2905719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D4ACD9-20AA-46BF-95ED-B84D6047A81D}"/>
              </a:ext>
            </a:extLst>
          </p:cNvPr>
          <p:cNvSpPr txBox="1"/>
          <p:nvPr/>
        </p:nvSpPr>
        <p:spPr>
          <a:xfrm>
            <a:off x="490817" y="1576416"/>
            <a:ext cx="5069541" cy="1623521"/>
          </a:xfrm>
          <a:prstGeom prst="rect">
            <a:avLst/>
          </a:prstGeom>
          <a:noFill/>
        </p:spPr>
        <p:txBody>
          <a:bodyPr wrap="square" rtlCol="0">
            <a:spAutoFit/>
          </a:bodyPr>
          <a:lstStyle/>
          <a:p>
            <a:pPr marL="342900" indent="-342900">
              <a:spcAft>
                <a:spcPts val="720"/>
              </a:spcAft>
              <a:buFont typeface="Wingdings" panose="05000000000000000000" pitchFamily="2" charset="2"/>
              <a:buChar char="v"/>
            </a:pPr>
            <a:r>
              <a:rPr lang="en-US" sz="2200" b="1" dirty="0"/>
              <a:t>Electricity Usage Data:</a:t>
            </a:r>
          </a:p>
          <a:p>
            <a:pPr>
              <a:spcAft>
                <a:spcPts val="720"/>
              </a:spcAft>
            </a:pPr>
            <a:r>
              <a:rPr lang="en-US" sz="2000" dirty="0"/>
              <a:t>  - </a:t>
            </a:r>
            <a:r>
              <a:rPr lang="en-US" sz="2000" dirty="0" err="1"/>
              <a:t>DailyUnits</a:t>
            </a:r>
            <a:r>
              <a:rPr lang="en-US" sz="2000" dirty="0"/>
              <a:t> (Daily energy consumption)</a:t>
            </a:r>
          </a:p>
          <a:p>
            <a:pPr>
              <a:spcAft>
                <a:spcPts val="720"/>
              </a:spcAft>
            </a:pPr>
            <a:r>
              <a:rPr lang="en-US" sz="2000" dirty="0"/>
              <a:t>  - </a:t>
            </a:r>
            <a:r>
              <a:rPr lang="en-US" sz="2000" dirty="0" err="1"/>
              <a:t>MonthlyUnits</a:t>
            </a:r>
            <a:r>
              <a:rPr lang="en-US" sz="2000" dirty="0"/>
              <a:t> (Total monthly usage)</a:t>
            </a:r>
          </a:p>
          <a:p>
            <a:pPr>
              <a:spcAft>
                <a:spcPts val="720"/>
              </a:spcAft>
            </a:pPr>
            <a:r>
              <a:rPr lang="en-US" sz="2000" dirty="0"/>
              <a:t>  - </a:t>
            </a:r>
            <a:r>
              <a:rPr lang="en-US" sz="2000" dirty="0" err="1"/>
              <a:t>weeklyUsage</a:t>
            </a:r>
            <a:r>
              <a:rPr lang="en-US" sz="2000" dirty="0"/>
              <a:t> (Weekly trends)</a:t>
            </a:r>
          </a:p>
        </p:txBody>
      </p:sp>
      <p:sp>
        <p:nvSpPr>
          <p:cNvPr id="6" name="Title 5">
            <a:extLst>
              <a:ext uri="{FF2B5EF4-FFF2-40B4-BE49-F238E27FC236}">
                <a16:creationId xmlns:a16="http://schemas.microsoft.com/office/drawing/2014/main" id="{98D3DCF5-78A7-4403-9700-2F390632A899}"/>
              </a:ext>
            </a:extLst>
          </p:cNvPr>
          <p:cNvSpPr>
            <a:spLocks noGrp="1"/>
          </p:cNvSpPr>
          <p:nvPr>
            <p:ph type="ctrTitle"/>
          </p:nvPr>
        </p:nvSpPr>
        <p:spPr>
          <a:xfrm>
            <a:off x="2152825" y="-72318"/>
            <a:ext cx="7197726" cy="1146585"/>
          </a:xfrm>
        </p:spPr>
        <p:txBody>
          <a:bodyPr>
            <a:normAutofit/>
          </a:bodyPr>
          <a:lstStyle/>
          <a:p>
            <a:pPr algn="ctr"/>
            <a:r>
              <a:rPr lang="en-IN" sz="3500" dirty="0"/>
              <a:t>Detailed Database Structure</a:t>
            </a:r>
          </a:p>
        </p:txBody>
      </p:sp>
      <p:sp>
        <p:nvSpPr>
          <p:cNvPr id="7" name="Subtitle 6">
            <a:extLst>
              <a:ext uri="{FF2B5EF4-FFF2-40B4-BE49-F238E27FC236}">
                <a16:creationId xmlns:a16="http://schemas.microsoft.com/office/drawing/2014/main" id="{24CDAC77-970F-4290-A887-4F1CD91DDDCC}"/>
              </a:ext>
            </a:extLst>
          </p:cNvPr>
          <p:cNvSpPr>
            <a:spLocks noGrp="1"/>
          </p:cNvSpPr>
          <p:nvPr>
            <p:ph type="subTitle" idx="1"/>
          </p:nvPr>
        </p:nvSpPr>
        <p:spPr>
          <a:xfrm>
            <a:off x="490818" y="3450053"/>
            <a:ext cx="5207430" cy="2015066"/>
          </a:xfrm>
        </p:spPr>
        <p:txBody>
          <a:bodyPr anchor="t">
            <a:normAutofit fontScale="25000" lnSpcReduction="20000"/>
          </a:bodyPr>
          <a:lstStyle/>
          <a:p>
            <a:pPr marL="1143000" indent="-1143000" algn="l">
              <a:spcAft>
                <a:spcPts val="720"/>
              </a:spcAft>
              <a:buFont typeface="Wingdings" panose="05000000000000000000" pitchFamily="2" charset="2"/>
              <a:buChar char="v"/>
            </a:pPr>
            <a:r>
              <a:rPr lang="en-IN" sz="8400" b="1" dirty="0"/>
              <a:t>User Authentication:</a:t>
            </a:r>
          </a:p>
          <a:p>
            <a:pPr algn="l">
              <a:spcAft>
                <a:spcPts val="720"/>
              </a:spcAft>
            </a:pPr>
            <a:r>
              <a:rPr lang="en-IN" sz="7200" dirty="0"/>
              <a:t>  - users → user1</a:t>
            </a:r>
          </a:p>
          <a:p>
            <a:pPr algn="l">
              <a:spcAft>
                <a:spcPts val="720"/>
              </a:spcAft>
            </a:pPr>
            <a:r>
              <a:rPr lang="en-IN" sz="7200" dirty="0"/>
              <a:t>    - name: 'User One'</a:t>
            </a:r>
          </a:p>
          <a:p>
            <a:pPr algn="l">
              <a:spcAft>
                <a:spcPts val="720"/>
              </a:spcAft>
            </a:pPr>
            <a:r>
              <a:rPr lang="en-IN" sz="7200" dirty="0"/>
              <a:t>    - username: 'admin'</a:t>
            </a:r>
          </a:p>
          <a:p>
            <a:pPr algn="l">
              <a:spcAft>
                <a:spcPts val="720"/>
              </a:spcAft>
            </a:pPr>
            <a:r>
              <a:rPr lang="en-IN" sz="7200" dirty="0"/>
              <a:t>    - password: '123' (Should be encrypted)</a:t>
            </a:r>
          </a:p>
          <a:p>
            <a:pPr algn="l">
              <a:spcAft>
                <a:spcPts val="720"/>
              </a:spcAft>
            </a:pPr>
            <a:r>
              <a:rPr lang="en-IN" sz="7200" dirty="0"/>
              <a:t>    - </a:t>
            </a:r>
            <a:r>
              <a:rPr lang="en-IN" sz="7200" dirty="0" err="1"/>
              <a:t>uid</a:t>
            </a:r>
            <a:r>
              <a:rPr lang="en-IN" sz="7200" dirty="0"/>
              <a:t>: '</a:t>
            </a:r>
            <a:r>
              <a:rPr lang="en-IN" sz="7200" dirty="0" err="1"/>
              <a:t>uniqueUserID</a:t>
            </a:r>
            <a:r>
              <a:rPr lang="en-IN" sz="7200" dirty="0"/>
              <a:t>'</a:t>
            </a:r>
          </a:p>
          <a:p>
            <a:endParaRPr lang="en-IN" dirty="0"/>
          </a:p>
        </p:txBody>
      </p:sp>
      <p:sp>
        <p:nvSpPr>
          <p:cNvPr id="8" name="TextBox 7">
            <a:extLst>
              <a:ext uri="{FF2B5EF4-FFF2-40B4-BE49-F238E27FC236}">
                <a16:creationId xmlns:a16="http://schemas.microsoft.com/office/drawing/2014/main" id="{899C4862-8EC6-485C-91D7-25392C133BEC}"/>
              </a:ext>
            </a:extLst>
          </p:cNvPr>
          <p:cNvSpPr txBox="1"/>
          <p:nvPr/>
        </p:nvSpPr>
        <p:spPr>
          <a:xfrm>
            <a:off x="6516370" y="1576416"/>
            <a:ext cx="5207430" cy="1990288"/>
          </a:xfrm>
          <a:prstGeom prst="rect">
            <a:avLst/>
          </a:prstGeom>
          <a:noFill/>
        </p:spPr>
        <p:txBody>
          <a:bodyPr wrap="square" rtlCol="0">
            <a:spAutoFit/>
          </a:bodyPr>
          <a:lstStyle/>
          <a:p>
            <a:pPr marL="342900" indent="-342900">
              <a:spcAft>
                <a:spcPts val="720"/>
              </a:spcAft>
              <a:buFont typeface="Wingdings" panose="05000000000000000000" pitchFamily="2" charset="2"/>
              <a:buChar char="v"/>
            </a:pPr>
            <a:r>
              <a:rPr lang="en-US" sz="2200" b="1" dirty="0"/>
              <a:t>System Settings:</a:t>
            </a:r>
          </a:p>
          <a:p>
            <a:pPr>
              <a:spcAft>
                <a:spcPts val="720"/>
              </a:spcAft>
            </a:pPr>
            <a:r>
              <a:rPr lang="en-US" sz="2000" dirty="0"/>
              <a:t>  - notifications: true (Alerts enabled)</a:t>
            </a:r>
          </a:p>
          <a:p>
            <a:pPr>
              <a:spcAft>
                <a:spcPts val="720"/>
              </a:spcAft>
            </a:pPr>
            <a:r>
              <a:rPr lang="en-US" sz="2000" dirty="0"/>
              <a:t>  - theme: 'BlackAndYellow.css' (Default theme)</a:t>
            </a:r>
          </a:p>
          <a:p>
            <a:pPr>
              <a:spcAft>
                <a:spcPts val="720"/>
              </a:spcAft>
            </a:pPr>
            <a:r>
              <a:rPr lang="en-US" sz="2000" dirty="0"/>
              <a:t>  - </a:t>
            </a:r>
            <a:r>
              <a:rPr lang="en-US" sz="2000" dirty="0" err="1"/>
              <a:t>userTheme</a:t>
            </a:r>
            <a:r>
              <a:rPr lang="en-US" sz="2000" dirty="0"/>
              <a:t>: 'Neon.css' (User-selected theme)</a:t>
            </a:r>
          </a:p>
          <a:p>
            <a:endParaRPr lang="en-IN" dirty="0"/>
          </a:p>
        </p:txBody>
      </p:sp>
      <p:sp>
        <p:nvSpPr>
          <p:cNvPr id="10" name="TextBox 9">
            <a:extLst>
              <a:ext uri="{FF2B5EF4-FFF2-40B4-BE49-F238E27FC236}">
                <a16:creationId xmlns:a16="http://schemas.microsoft.com/office/drawing/2014/main" id="{52E8E527-CCF4-4D91-9F69-2C08041A0180}"/>
              </a:ext>
            </a:extLst>
          </p:cNvPr>
          <p:cNvSpPr txBox="1"/>
          <p:nvPr/>
        </p:nvSpPr>
        <p:spPr>
          <a:xfrm>
            <a:off x="2158659" y="5314703"/>
            <a:ext cx="8376538" cy="1374735"/>
          </a:xfrm>
          <a:prstGeom prst="rect">
            <a:avLst/>
          </a:prstGeom>
          <a:noFill/>
        </p:spPr>
        <p:txBody>
          <a:bodyPr wrap="square">
            <a:spAutoFit/>
          </a:bodyPr>
          <a:lstStyle/>
          <a:p>
            <a:pPr marL="342900" indent="-342900">
              <a:spcAft>
                <a:spcPts val="1440"/>
              </a:spcAft>
              <a:buFont typeface="Wingdings" panose="05000000000000000000" pitchFamily="2" charset="2"/>
              <a:buChar char="v"/>
            </a:pPr>
            <a:r>
              <a:rPr lang="en-IN" sz="2000" b="1" dirty="0"/>
              <a:t>Data Flow:</a:t>
            </a:r>
          </a:p>
          <a:p>
            <a:pPr marL="800100" lvl="1" indent="-342900">
              <a:spcAft>
                <a:spcPts val="1440"/>
              </a:spcAft>
              <a:buFont typeface="Arial" panose="020B0604020202020204" pitchFamily="34" charset="0"/>
              <a:buChar char="•"/>
            </a:pPr>
            <a:r>
              <a:rPr lang="en-IN" sz="2000" b="1" dirty="0"/>
              <a:t>ESP32 → Firebase → Web UI</a:t>
            </a:r>
            <a:r>
              <a:rPr lang="en-IN" sz="2000" dirty="0"/>
              <a:t> </a:t>
            </a:r>
            <a:r>
              <a:rPr lang="en-IN" sz="2000" i="1" dirty="0"/>
              <a:t>(for data retrieval and display)</a:t>
            </a:r>
          </a:p>
          <a:p>
            <a:pPr marL="800100" lvl="1" indent="-342900">
              <a:spcAft>
                <a:spcPts val="1440"/>
              </a:spcAft>
              <a:buFont typeface="Arial" panose="020B0604020202020204" pitchFamily="34" charset="0"/>
              <a:buChar char="•"/>
            </a:pPr>
            <a:r>
              <a:rPr lang="en-US" sz="2000" b="1" dirty="0"/>
              <a:t>Web UI → Firebase → ESP32</a:t>
            </a:r>
            <a:r>
              <a:rPr lang="en-US" sz="2000" dirty="0"/>
              <a:t> </a:t>
            </a:r>
            <a:r>
              <a:rPr lang="en-US" sz="2000" i="1" dirty="0"/>
              <a:t>(for relay ON/OFF control)</a:t>
            </a:r>
            <a:endParaRPr lang="en-IN" sz="2000" dirty="0"/>
          </a:p>
        </p:txBody>
      </p:sp>
      <p:sp>
        <p:nvSpPr>
          <p:cNvPr id="2" name="TextBox 1">
            <a:extLst>
              <a:ext uri="{FF2B5EF4-FFF2-40B4-BE49-F238E27FC236}">
                <a16:creationId xmlns:a16="http://schemas.microsoft.com/office/drawing/2014/main" id="{AD723171-A30D-4CEA-B616-92536E57A01B}"/>
              </a:ext>
            </a:extLst>
          </p:cNvPr>
          <p:cNvSpPr txBox="1"/>
          <p:nvPr/>
        </p:nvSpPr>
        <p:spPr>
          <a:xfrm>
            <a:off x="6516370" y="3302390"/>
            <a:ext cx="4656407" cy="3231654"/>
          </a:xfrm>
          <a:prstGeom prst="rect">
            <a:avLst/>
          </a:prstGeom>
          <a:noFill/>
        </p:spPr>
        <p:txBody>
          <a:bodyPr wrap="square" rtlCol="0">
            <a:spAutoFit/>
          </a:bodyPr>
          <a:lstStyle/>
          <a:p>
            <a:pPr marL="342900" indent="-342900">
              <a:buFont typeface="Wingdings" panose="05000000000000000000" pitchFamily="2" charset="2"/>
              <a:buChar char="v"/>
            </a:pPr>
            <a:r>
              <a:rPr lang="en-IN" sz="2200" b="1" dirty="0"/>
              <a:t>Appliance Data:</a:t>
            </a:r>
          </a:p>
          <a:p>
            <a:r>
              <a:rPr lang="en-IN" b="1" dirty="0"/>
              <a:t> </a:t>
            </a:r>
            <a:r>
              <a:rPr lang="en-US" dirty="0"/>
              <a:t>• </a:t>
            </a:r>
            <a:r>
              <a:rPr lang="en-IN" b="1" dirty="0"/>
              <a:t>Appliance1</a:t>
            </a:r>
          </a:p>
          <a:p>
            <a:pPr lvl="1" defTabSz="914400" eaLnBrk="0" fontAlgn="base" hangingPunct="0">
              <a:spcBef>
                <a:spcPct val="0"/>
              </a:spcBef>
              <a:spcAft>
                <a:spcPct val="0"/>
              </a:spcAft>
            </a:pPr>
            <a:r>
              <a:rPr kumimoji="0" lang="en-US" altLang="en-US" i="0" u="none" strike="noStrike" cap="none" normalizeH="0" baseline="0" dirty="0" err="1">
                <a:ln>
                  <a:noFill/>
                </a:ln>
                <a:solidFill>
                  <a:schemeClr val="tx1"/>
                </a:solidFill>
                <a:effectLst/>
                <a:latin typeface="Arial" panose="020B0604020202020204" pitchFamily="34" charset="0"/>
              </a:rPr>
              <a:t>DesiredRelayState</a:t>
            </a:r>
            <a:r>
              <a:rPr kumimoji="0" lang="en-US" altLang="en-US" i="0" u="none" strike="noStrike" cap="none" normalizeH="0" baseline="0" dirty="0">
                <a:ln>
                  <a:noFill/>
                </a:ln>
                <a:solidFill>
                  <a:schemeClr val="tx1"/>
                </a:solidFill>
                <a:effectLst/>
                <a:latin typeface="Arial" panose="020B0604020202020204" pitchFamily="34" charset="0"/>
              </a:rPr>
              <a:t>: </a:t>
            </a:r>
            <a:r>
              <a:rPr kumimoji="0" lang="en-US" altLang="en-US" sz="1000" i="0" u="none" strike="noStrike" cap="none" normalizeH="0" baseline="0" dirty="0">
                <a:ln>
                  <a:noFill/>
                </a:ln>
                <a:solidFill>
                  <a:schemeClr val="tx1"/>
                </a:solidFill>
                <a:effectLst/>
                <a:latin typeface="Arial Unicode MS"/>
              </a:rPr>
              <a:t>"ON“</a:t>
            </a:r>
            <a:endParaRPr lang="en-US" altLang="en-US" sz="1100" dirty="0"/>
          </a:p>
          <a:p>
            <a:pPr lvl="1" defTabSz="914400" eaLnBrk="0" fontAlgn="base" hangingPunct="0">
              <a:spcBef>
                <a:spcPct val="0"/>
              </a:spcBef>
              <a:spcAft>
                <a:spcPct val="0"/>
              </a:spcAft>
            </a:pPr>
            <a:r>
              <a:rPr kumimoji="0" lang="en-US" altLang="en-US" i="0" u="none" strike="noStrike" cap="none" normalizeH="0" baseline="0" dirty="0">
                <a:ln>
                  <a:noFill/>
                </a:ln>
                <a:solidFill>
                  <a:schemeClr val="tx1"/>
                </a:solidFill>
                <a:effectLst/>
                <a:latin typeface="Arial" panose="020B0604020202020204" pitchFamily="34" charset="0"/>
              </a:rPr>
              <a:t>Power: </a:t>
            </a:r>
            <a:r>
              <a:rPr kumimoji="0" lang="en-US" altLang="en-US" sz="1000" i="0" u="none" strike="noStrike" cap="none" normalizeH="0" baseline="0" dirty="0">
                <a:ln>
                  <a:noFill/>
                </a:ln>
                <a:solidFill>
                  <a:schemeClr val="tx1"/>
                </a:solidFill>
                <a:effectLst/>
                <a:latin typeface="Arial Unicode MS"/>
              </a:rPr>
              <a:t>0.05882 kW</a:t>
            </a:r>
            <a:endParaRPr lang="en-US" altLang="en-US" dirty="0">
              <a:latin typeface="Arial" panose="020B0604020202020204" pitchFamily="34" charset="0"/>
            </a:endParaRPr>
          </a:p>
          <a:p>
            <a:pPr defTabSz="914400" eaLnBrk="0" fontAlgn="base" hangingPunct="0">
              <a:spcBef>
                <a:spcPct val="0"/>
              </a:spcBef>
              <a:spcAft>
                <a:spcPct val="0"/>
              </a:spcAft>
            </a:pPr>
            <a:r>
              <a:rPr lang="en-US" sz="2000" dirty="0"/>
              <a:t>• </a:t>
            </a:r>
            <a:r>
              <a:rPr lang="en-IN" sz="2000" b="1" dirty="0"/>
              <a:t>Appliance2</a:t>
            </a:r>
          </a:p>
          <a:p>
            <a:pPr lvl="1"/>
            <a:r>
              <a:rPr kumimoji="0" lang="en-US" altLang="en-US" i="0" u="none" strike="noStrike" cap="none" normalizeH="0" baseline="0" dirty="0" err="1">
                <a:ln>
                  <a:noFill/>
                </a:ln>
                <a:solidFill>
                  <a:schemeClr val="tx1"/>
                </a:solidFill>
                <a:effectLst/>
                <a:latin typeface="Arial" panose="020B0604020202020204" pitchFamily="34" charset="0"/>
              </a:rPr>
              <a:t>DesiredRelayState</a:t>
            </a:r>
            <a:r>
              <a:rPr kumimoji="0" lang="en-US" altLang="en-US" i="0" u="none" strike="noStrike" cap="none" normalizeH="0" baseline="0" dirty="0">
                <a:ln>
                  <a:noFill/>
                </a:ln>
                <a:solidFill>
                  <a:schemeClr val="tx1"/>
                </a:solidFill>
                <a:effectLst/>
                <a:latin typeface="Arial" panose="020B0604020202020204" pitchFamily="34" charset="0"/>
              </a:rPr>
              <a:t>: </a:t>
            </a:r>
            <a:r>
              <a:rPr kumimoji="0" lang="en-US" altLang="en-US" sz="1000" i="0" u="none" strike="noStrike" cap="none" normalizeH="0" baseline="0" dirty="0">
                <a:ln>
                  <a:noFill/>
                </a:ln>
                <a:solidFill>
                  <a:schemeClr val="tx1"/>
                </a:solidFill>
                <a:effectLst/>
                <a:latin typeface="Arial Unicode MS"/>
              </a:rPr>
              <a:t>"OFF“</a:t>
            </a:r>
          </a:p>
          <a:p>
            <a:pPr lvl="1"/>
            <a:r>
              <a:rPr kumimoji="0" lang="en-US" altLang="en-US" i="0" u="none" strike="noStrike" cap="none" normalizeH="0" baseline="0" dirty="0">
                <a:ln>
                  <a:noFill/>
                </a:ln>
                <a:solidFill>
                  <a:schemeClr val="tx1"/>
                </a:solidFill>
                <a:effectLst/>
                <a:latin typeface="Arial" panose="020B0604020202020204" pitchFamily="34" charset="0"/>
              </a:rPr>
              <a:t>Power: </a:t>
            </a:r>
            <a:r>
              <a:rPr kumimoji="0" lang="en-US" altLang="en-US" sz="1000" i="0" u="none" strike="noStrike" cap="none" normalizeH="0" baseline="0" dirty="0">
                <a:ln>
                  <a:noFill/>
                </a:ln>
                <a:solidFill>
                  <a:schemeClr val="tx1"/>
                </a:solidFill>
                <a:effectLst/>
                <a:latin typeface="Arial Unicode MS"/>
              </a:rPr>
              <a:t>0 kW</a:t>
            </a:r>
            <a:r>
              <a:rPr kumimoji="0" lang="en-US" altLang="en-US" sz="1100" i="0" u="none" strike="noStrike" cap="none" normalizeH="0" baseline="0" dirty="0">
                <a:ln>
                  <a:noFill/>
                </a:ln>
                <a:solidFill>
                  <a:schemeClr val="tx1"/>
                </a:solidFill>
                <a:effectLst/>
              </a:rPr>
              <a:t> </a:t>
            </a:r>
            <a:endParaRPr kumimoji="0" lang="en-US" altLang="en-US" i="0" u="none" strike="noStrike" cap="none" normalizeH="0" baseline="0" dirty="0">
              <a:ln>
                <a:noFill/>
              </a:ln>
              <a:solidFill>
                <a:schemeClr val="tx1"/>
              </a:solidFill>
              <a:effectLst/>
              <a:latin typeface="Arial" panose="020B0604020202020204" pitchFamily="34" charset="0"/>
            </a:endParaRPr>
          </a:p>
          <a:p>
            <a:pPr>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Font typeface="Arial" panose="020B0604020202020204" pitchFamily="34" charset="0"/>
              <a:buChar char="•"/>
            </a:pPr>
            <a:endParaRPr lang="en-IN" dirty="0"/>
          </a:p>
          <a:p>
            <a:pPr>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1759144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878DEC-628B-4D98-B085-01248B76DEEB}"/>
              </a:ext>
            </a:extLst>
          </p:cNvPr>
          <p:cNvSpPr txBox="1"/>
          <p:nvPr/>
        </p:nvSpPr>
        <p:spPr>
          <a:xfrm>
            <a:off x="2963594" y="349456"/>
            <a:ext cx="6527409" cy="907941"/>
          </a:xfrm>
          <a:prstGeom prst="rect">
            <a:avLst/>
          </a:prstGeom>
          <a:noFill/>
        </p:spPr>
        <p:txBody>
          <a:bodyPr wrap="square" rtlCol="0">
            <a:spAutoFit/>
          </a:bodyPr>
          <a:lstStyle/>
          <a:p>
            <a:r>
              <a:rPr lang="en-IN" sz="3500" b="1" dirty="0"/>
              <a:t>System Functionality (Website)</a:t>
            </a:r>
          </a:p>
          <a:p>
            <a:endParaRPr lang="en-IN" dirty="0"/>
          </a:p>
        </p:txBody>
      </p:sp>
      <p:sp>
        <p:nvSpPr>
          <p:cNvPr id="3" name="TextBox 2">
            <a:extLst>
              <a:ext uri="{FF2B5EF4-FFF2-40B4-BE49-F238E27FC236}">
                <a16:creationId xmlns:a16="http://schemas.microsoft.com/office/drawing/2014/main" id="{10B21AAD-9A10-4B7A-9923-7500E8A2F64F}"/>
              </a:ext>
            </a:extLst>
          </p:cNvPr>
          <p:cNvSpPr txBox="1"/>
          <p:nvPr/>
        </p:nvSpPr>
        <p:spPr>
          <a:xfrm>
            <a:off x="70340" y="1181741"/>
            <a:ext cx="5542671" cy="2123658"/>
          </a:xfrm>
          <a:prstGeom prst="rect">
            <a:avLst/>
          </a:prstGeom>
          <a:noFill/>
        </p:spPr>
        <p:txBody>
          <a:bodyPr wrap="square" rtlCol="0">
            <a:spAutoFit/>
          </a:bodyPr>
          <a:lstStyle/>
          <a:p>
            <a:pPr marL="285750" indent="-285750">
              <a:buFont typeface="Wingdings" panose="05000000000000000000" pitchFamily="2" charset="2"/>
              <a:buChar char="v"/>
            </a:pPr>
            <a:r>
              <a:rPr lang="en-US" b="1" dirty="0"/>
              <a:t>Settings:</a:t>
            </a:r>
            <a:endParaRPr lang="en-US" dirty="0"/>
          </a:p>
          <a:p>
            <a:pPr lvl="1">
              <a:buFont typeface="Arial" panose="020B0604020202020204" pitchFamily="34" charset="0"/>
              <a:buChar char="•"/>
            </a:pPr>
            <a:r>
              <a:rPr lang="en-US" sz="1900" dirty="0"/>
              <a:t>Notification Management: Enable or disable system alerts.</a:t>
            </a:r>
          </a:p>
          <a:p>
            <a:pPr lvl="1">
              <a:buFont typeface="Arial" panose="020B0604020202020204" pitchFamily="34" charset="0"/>
              <a:buChar char="•"/>
            </a:pPr>
            <a:r>
              <a:rPr lang="en-US" sz="1900" dirty="0"/>
              <a:t>Account Management: Change username and password.</a:t>
            </a:r>
          </a:p>
          <a:p>
            <a:pPr lvl="1">
              <a:buFont typeface="Arial" panose="020B0604020202020204" pitchFamily="34" charset="0"/>
              <a:buChar char="•"/>
            </a:pPr>
            <a:r>
              <a:rPr lang="en-US" sz="1900" dirty="0"/>
              <a:t>Theme Customization: Select and apply user-defined themes.</a:t>
            </a:r>
          </a:p>
        </p:txBody>
      </p:sp>
      <p:sp>
        <p:nvSpPr>
          <p:cNvPr id="4" name="TextBox 3">
            <a:extLst>
              <a:ext uri="{FF2B5EF4-FFF2-40B4-BE49-F238E27FC236}">
                <a16:creationId xmlns:a16="http://schemas.microsoft.com/office/drawing/2014/main" id="{FA6BBEFA-3345-4FE5-9771-C04590EBCCE7}"/>
              </a:ext>
            </a:extLst>
          </p:cNvPr>
          <p:cNvSpPr txBox="1"/>
          <p:nvPr/>
        </p:nvSpPr>
        <p:spPr>
          <a:xfrm>
            <a:off x="7209691" y="1208382"/>
            <a:ext cx="4825219" cy="1231106"/>
          </a:xfrm>
          <a:prstGeom prst="rect">
            <a:avLst/>
          </a:prstGeom>
          <a:noFill/>
        </p:spPr>
        <p:txBody>
          <a:bodyPr wrap="square" rtlCol="0">
            <a:spAutoFit/>
          </a:bodyPr>
          <a:lstStyle/>
          <a:p>
            <a:pPr marL="285750" indent="-285750">
              <a:buFont typeface="Wingdings" panose="05000000000000000000" pitchFamily="2" charset="2"/>
              <a:buChar char="v"/>
            </a:pPr>
            <a:r>
              <a:rPr lang="en-US" b="1" dirty="0"/>
              <a:t>Appliance Control:</a:t>
            </a:r>
            <a:endParaRPr lang="en-US" dirty="0"/>
          </a:p>
          <a:p>
            <a:pPr lvl="1">
              <a:buFont typeface="Arial" panose="020B0604020202020204" pitchFamily="34" charset="0"/>
              <a:buChar char="•"/>
            </a:pPr>
            <a:r>
              <a:rPr lang="en-US" sz="1900" dirty="0"/>
              <a:t>Remote ON/OFF control for Appliance 1.</a:t>
            </a:r>
          </a:p>
          <a:p>
            <a:pPr lvl="1">
              <a:buFont typeface="Arial" panose="020B0604020202020204" pitchFamily="34" charset="0"/>
              <a:buChar char="•"/>
            </a:pPr>
            <a:r>
              <a:rPr lang="en-US" sz="1900" dirty="0"/>
              <a:t>Remote ON/OFF control for Appliance 2</a:t>
            </a:r>
            <a:r>
              <a:rPr lang="en-US" dirty="0"/>
              <a:t>.</a:t>
            </a:r>
          </a:p>
          <a:p>
            <a:endParaRPr lang="en-IN" dirty="0"/>
          </a:p>
        </p:txBody>
      </p:sp>
      <p:sp>
        <p:nvSpPr>
          <p:cNvPr id="5" name="TextBox 4">
            <a:extLst>
              <a:ext uri="{FF2B5EF4-FFF2-40B4-BE49-F238E27FC236}">
                <a16:creationId xmlns:a16="http://schemas.microsoft.com/office/drawing/2014/main" id="{636B6F36-B34C-4102-96C1-498E9F3EA3F6}"/>
              </a:ext>
            </a:extLst>
          </p:cNvPr>
          <p:cNvSpPr txBox="1"/>
          <p:nvPr/>
        </p:nvSpPr>
        <p:spPr>
          <a:xfrm>
            <a:off x="1645920" y="3710354"/>
            <a:ext cx="8452337" cy="2416046"/>
          </a:xfrm>
          <a:prstGeom prst="rect">
            <a:avLst/>
          </a:prstGeom>
          <a:noFill/>
        </p:spPr>
        <p:txBody>
          <a:bodyPr wrap="square" rtlCol="0">
            <a:spAutoFit/>
          </a:bodyPr>
          <a:lstStyle/>
          <a:p>
            <a:pPr marL="285750" indent="-285750">
              <a:buFont typeface="Wingdings" panose="05000000000000000000" pitchFamily="2" charset="2"/>
              <a:buChar char="v"/>
            </a:pPr>
            <a:r>
              <a:rPr lang="en-US" b="1" dirty="0"/>
              <a:t>Energy Usage :</a:t>
            </a:r>
            <a:endParaRPr lang="en-US" dirty="0"/>
          </a:p>
          <a:p>
            <a:pPr lvl="1" algn="just">
              <a:buFont typeface="Arial" panose="020B0604020202020204" pitchFamily="34" charset="0"/>
              <a:buChar char="•"/>
            </a:pPr>
            <a:r>
              <a:rPr lang="en-US" sz="1900" dirty="0"/>
              <a:t>Realtime Usage: Displays current energy consumption for each appliance and the combined total.</a:t>
            </a:r>
          </a:p>
          <a:p>
            <a:pPr lvl="1" algn="just">
              <a:buFont typeface="Arial" panose="020B0604020202020204" pitchFamily="34" charset="0"/>
              <a:buChar char="•"/>
            </a:pPr>
            <a:r>
              <a:rPr lang="en-US" sz="1900" dirty="0"/>
              <a:t>Daily and Monthly Usage: Provides aggregated energy consumption statistics.</a:t>
            </a:r>
          </a:p>
          <a:p>
            <a:pPr lvl="1" algn="just">
              <a:buFont typeface="Arial" panose="020B0604020202020204" pitchFamily="34" charset="0"/>
              <a:buChar char="•"/>
            </a:pPr>
            <a:r>
              <a:rPr lang="en-US" sz="1900" dirty="0"/>
              <a:t>Cost Estimation: Calculates daily and monthly cost projections based on usage.</a:t>
            </a:r>
          </a:p>
          <a:p>
            <a:pPr lvl="1" algn="just">
              <a:buFont typeface="Arial" panose="020B0604020202020204" pitchFamily="34" charset="0"/>
              <a:buChar char="•"/>
            </a:pPr>
            <a:r>
              <a:rPr lang="en-US" sz="1900" dirty="0"/>
              <a:t>Historical Data Access: </a:t>
            </a:r>
          </a:p>
          <a:p>
            <a:pPr marL="1200150" lvl="2" indent="-285750" algn="just">
              <a:buFont typeface="Arial" panose="020B0604020202020204" pitchFamily="34" charset="0"/>
              <a:buChar char="•"/>
            </a:pPr>
            <a:r>
              <a:rPr lang="en-US" sz="1900" dirty="0"/>
              <a:t>Month and Year selection for viewing past data.</a:t>
            </a:r>
          </a:p>
          <a:p>
            <a:pPr marL="1200150" lvl="2" indent="-285750" algn="just">
              <a:buFont typeface="Arial" panose="020B0604020202020204" pitchFamily="34" charset="0"/>
              <a:buChar char="•"/>
            </a:pPr>
            <a:r>
              <a:rPr lang="en-US" sz="1900" dirty="0"/>
              <a:t>Calendar view of daily usage patterns.</a:t>
            </a:r>
          </a:p>
        </p:txBody>
      </p:sp>
      <p:sp>
        <p:nvSpPr>
          <p:cNvPr id="6" name="TextBox 5">
            <a:extLst>
              <a:ext uri="{FF2B5EF4-FFF2-40B4-BE49-F238E27FC236}">
                <a16:creationId xmlns:a16="http://schemas.microsoft.com/office/drawing/2014/main" id="{8B3DF9B2-4553-4E24-BBEC-9D33B5FD366E}"/>
              </a:ext>
            </a:extLst>
          </p:cNvPr>
          <p:cNvSpPr txBox="1"/>
          <p:nvPr/>
        </p:nvSpPr>
        <p:spPr>
          <a:xfrm>
            <a:off x="7209691" y="2439488"/>
            <a:ext cx="5069058" cy="954107"/>
          </a:xfrm>
          <a:prstGeom prst="rect">
            <a:avLst/>
          </a:prstGeom>
          <a:noFill/>
        </p:spPr>
        <p:txBody>
          <a:bodyPr wrap="square" rtlCol="0">
            <a:spAutoFit/>
          </a:bodyPr>
          <a:lstStyle/>
          <a:p>
            <a:pPr marL="285750" indent="-285750">
              <a:buFont typeface="Wingdings" panose="05000000000000000000" pitchFamily="2" charset="2"/>
              <a:buChar char="v"/>
            </a:pPr>
            <a:r>
              <a:rPr lang="en-US" b="1" dirty="0"/>
              <a:t>Weekly Usage Graph:</a:t>
            </a:r>
            <a:endParaRPr lang="en-US" dirty="0"/>
          </a:p>
          <a:p>
            <a:pPr lvl="1">
              <a:buFont typeface="Arial" panose="020B0604020202020204" pitchFamily="34" charset="0"/>
              <a:buChar char="•"/>
            </a:pPr>
            <a:r>
              <a:rPr lang="en-US" sz="1900" dirty="0"/>
              <a:t>Graphical representation of energy consumption for each day of the week</a:t>
            </a:r>
          </a:p>
        </p:txBody>
      </p:sp>
    </p:spTree>
    <p:extLst>
      <p:ext uri="{BB962C8B-B14F-4D97-AF65-F5344CB8AC3E}">
        <p14:creationId xmlns:p14="http://schemas.microsoft.com/office/powerpoint/2010/main" val="4195167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19D073-102F-469D-949A-FDF06958F110}"/>
              </a:ext>
            </a:extLst>
          </p:cNvPr>
          <p:cNvSpPr txBox="1"/>
          <p:nvPr/>
        </p:nvSpPr>
        <p:spPr>
          <a:xfrm>
            <a:off x="3319976" y="604910"/>
            <a:ext cx="4487594" cy="630942"/>
          </a:xfrm>
          <a:prstGeom prst="rect">
            <a:avLst/>
          </a:prstGeom>
          <a:noFill/>
        </p:spPr>
        <p:txBody>
          <a:bodyPr wrap="square" rtlCol="0">
            <a:spAutoFit/>
          </a:bodyPr>
          <a:lstStyle/>
          <a:p>
            <a:pPr algn="ctr"/>
            <a:r>
              <a:rPr lang="en-IN" sz="3500" b="1" dirty="0"/>
              <a:t>Technologies Used</a:t>
            </a:r>
          </a:p>
        </p:txBody>
      </p:sp>
      <p:sp>
        <p:nvSpPr>
          <p:cNvPr id="3" name="TextBox 2">
            <a:extLst>
              <a:ext uri="{FF2B5EF4-FFF2-40B4-BE49-F238E27FC236}">
                <a16:creationId xmlns:a16="http://schemas.microsoft.com/office/drawing/2014/main" id="{A70EB764-B141-4996-AAD0-D4F2BC101464}"/>
              </a:ext>
            </a:extLst>
          </p:cNvPr>
          <p:cNvSpPr txBox="1"/>
          <p:nvPr/>
        </p:nvSpPr>
        <p:spPr>
          <a:xfrm>
            <a:off x="1404425" y="1592909"/>
            <a:ext cx="9383150" cy="4093428"/>
          </a:xfrm>
          <a:prstGeom prst="rect">
            <a:avLst/>
          </a:prstGeom>
          <a:noFill/>
        </p:spPr>
        <p:txBody>
          <a:bodyPr wrap="square" rtlCol="0">
            <a:spAutoFit/>
          </a:bodyPr>
          <a:lstStyle/>
          <a:p>
            <a:r>
              <a:rPr lang="en-IN" sz="2200" b="1" dirty="0"/>
              <a:t>1. Hardware:</a:t>
            </a:r>
          </a:p>
          <a:p>
            <a:pPr lvl="1">
              <a:buFont typeface="Arial" panose="020B0604020202020204" pitchFamily="34" charset="0"/>
              <a:buChar char="•"/>
            </a:pPr>
            <a:r>
              <a:rPr lang="en-IN" sz="2200" b="1" dirty="0"/>
              <a:t>ESP32:</a:t>
            </a:r>
            <a:r>
              <a:rPr lang="en-IN" sz="2200" dirty="0"/>
              <a:t> Microcontroller for data transmission and relay control.</a:t>
            </a:r>
          </a:p>
          <a:p>
            <a:pPr lvl="1">
              <a:buFont typeface="Arial" panose="020B0604020202020204" pitchFamily="34" charset="0"/>
              <a:buChar char="•"/>
            </a:pPr>
            <a:r>
              <a:rPr lang="en-IN" sz="2200" b="1" dirty="0"/>
              <a:t>Current Sensors:</a:t>
            </a:r>
            <a:r>
              <a:rPr lang="en-IN" sz="2200" dirty="0"/>
              <a:t> Measure real-time electricity consumption.</a:t>
            </a:r>
          </a:p>
          <a:p>
            <a:pPr lvl="1">
              <a:buFont typeface="Arial" panose="020B0604020202020204" pitchFamily="34" charset="0"/>
              <a:buChar char="•"/>
            </a:pPr>
            <a:r>
              <a:rPr lang="en-IN" sz="2200" b="1" dirty="0"/>
              <a:t>Relays:</a:t>
            </a:r>
            <a:r>
              <a:rPr lang="en-IN" sz="2200" dirty="0"/>
              <a:t> Control appliances remotely via the web interface.</a:t>
            </a:r>
          </a:p>
          <a:p>
            <a:r>
              <a:rPr lang="en-IN" sz="2200" b="1" dirty="0"/>
              <a:t>2. Software &amp; Platforms:</a:t>
            </a:r>
          </a:p>
          <a:p>
            <a:pPr lvl="1">
              <a:buFont typeface="Arial" panose="020B0604020202020204" pitchFamily="34" charset="0"/>
              <a:buChar char="•"/>
            </a:pPr>
            <a:r>
              <a:rPr lang="en-IN" sz="2200" b="1" dirty="0"/>
              <a:t>Firebase:</a:t>
            </a:r>
            <a:r>
              <a:rPr lang="en-IN" sz="2200" dirty="0"/>
              <a:t> Cloud database for storing and retrieving real-time data.</a:t>
            </a:r>
          </a:p>
          <a:p>
            <a:pPr lvl="1">
              <a:buFont typeface="Arial" panose="020B0604020202020204" pitchFamily="34" charset="0"/>
              <a:buChar char="•"/>
            </a:pPr>
            <a:r>
              <a:rPr lang="en-IN" sz="2200" b="1" dirty="0"/>
              <a:t>HTML, CSS, JavaScript:</a:t>
            </a:r>
            <a:r>
              <a:rPr lang="en-IN" sz="2200" dirty="0"/>
              <a:t> Frontend development for the web UI.</a:t>
            </a:r>
          </a:p>
          <a:p>
            <a:r>
              <a:rPr lang="en-IN" sz="2200" b="1" dirty="0"/>
              <a:t>3. Communication &amp; Integration:</a:t>
            </a:r>
          </a:p>
          <a:p>
            <a:pPr lvl="1">
              <a:buFont typeface="Arial" panose="020B0604020202020204" pitchFamily="34" charset="0"/>
              <a:buChar char="•"/>
            </a:pPr>
            <a:r>
              <a:rPr lang="en-IN" sz="2200" b="1" dirty="0"/>
              <a:t>Wi-Fi:</a:t>
            </a:r>
            <a:r>
              <a:rPr lang="en-IN" sz="2200" dirty="0"/>
              <a:t> Enables ESP32 to send and receive data.</a:t>
            </a:r>
          </a:p>
          <a:p>
            <a:pPr lvl="1">
              <a:buFont typeface="Arial" panose="020B0604020202020204" pitchFamily="34" charset="0"/>
              <a:buChar char="•"/>
            </a:pPr>
            <a:r>
              <a:rPr lang="en-IN" sz="2200" b="1" dirty="0"/>
              <a:t>Realtime Data Flow:</a:t>
            </a:r>
            <a:r>
              <a:rPr lang="en-IN" sz="2200" dirty="0"/>
              <a:t> ESP32 ↔ Firebase ↔ Web UI for monitoring and control.</a:t>
            </a:r>
          </a:p>
          <a:p>
            <a:endParaRPr lang="en-IN" dirty="0"/>
          </a:p>
        </p:txBody>
      </p:sp>
    </p:spTree>
    <p:extLst>
      <p:ext uri="{BB962C8B-B14F-4D97-AF65-F5344CB8AC3E}">
        <p14:creationId xmlns:p14="http://schemas.microsoft.com/office/powerpoint/2010/main" val="212013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F8BA53-35BC-47F0-92F6-6BA3162619CB}"/>
              </a:ext>
            </a:extLst>
          </p:cNvPr>
          <p:cNvSpPr txBox="1"/>
          <p:nvPr/>
        </p:nvSpPr>
        <p:spPr>
          <a:xfrm>
            <a:off x="3727938" y="351691"/>
            <a:ext cx="4192172" cy="677108"/>
          </a:xfrm>
          <a:prstGeom prst="rect">
            <a:avLst/>
          </a:prstGeom>
          <a:noFill/>
        </p:spPr>
        <p:txBody>
          <a:bodyPr wrap="square" rtlCol="0">
            <a:spAutoFit/>
          </a:bodyPr>
          <a:lstStyle/>
          <a:p>
            <a:r>
              <a:rPr lang="en-IN" sz="3800" dirty="0"/>
              <a:t>Existing System</a:t>
            </a:r>
          </a:p>
        </p:txBody>
      </p:sp>
      <p:sp>
        <p:nvSpPr>
          <p:cNvPr id="4" name="Rectangle 1">
            <a:extLst>
              <a:ext uri="{FF2B5EF4-FFF2-40B4-BE49-F238E27FC236}">
                <a16:creationId xmlns:a16="http://schemas.microsoft.com/office/drawing/2014/main" id="{9F9891D5-0FB3-4B35-8215-4CC86F262635}"/>
              </a:ext>
            </a:extLst>
          </p:cNvPr>
          <p:cNvSpPr>
            <a:spLocks noChangeArrowheads="1"/>
          </p:cNvSpPr>
          <p:nvPr/>
        </p:nvSpPr>
        <p:spPr bwMode="auto">
          <a:xfrm flipH="1">
            <a:off x="1031632" y="1028799"/>
            <a:ext cx="1012873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200" dirty="0"/>
              <a:t>Several smart energy monitoring solutions exist, such as </a:t>
            </a:r>
            <a:r>
              <a:rPr lang="en-US" sz="2200" b="1" dirty="0"/>
              <a:t>smart plugs, energy meters, and IoT-based devices</a:t>
            </a:r>
            <a:r>
              <a:rPr lang="en-US" sz="2200" dirty="0"/>
              <a:t>, but they come with limitations: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sz="22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rPr>
              <a:t>Smart plugs</a:t>
            </a:r>
            <a:r>
              <a:rPr kumimoji="0" lang="en-US" altLang="en-US" sz="2200" b="0" i="0" u="none" strike="noStrike" cap="none" normalizeH="0" baseline="0" dirty="0">
                <a:ln>
                  <a:noFill/>
                </a:ln>
                <a:solidFill>
                  <a:schemeClr val="tx1"/>
                </a:solidFill>
                <a:effectLst/>
                <a:latin typeface="Arial" panose="020B0604020202020204" pitchFamily="34" charset="0"/>
              </a:rPr>
              <a:t> monitor single appliances but require multiple devices for full-home tracking and lack historical data analysis.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rPr>
              <a:t>Standalone energy meters</a:t>
            </a:r>
            <a:r>
              <a:rPr kumimoji="0" lang="en-US" altLang="en-US" sz="2200" b="0" i="0" u="none" strike="noStrike" cap="none" normalizeH="0" baseline="0" dirty="0">
                <a:ln>
                  <a:noFill/>
                </a:ln>
                <a:solidFill>
                  <a:schemeClr val="tx1"/>
                </a:solidFill>
                <a:effectLst/>
                <a:latin typeface="Arial" panose="020B0604020202020204" pitchFamily="34" charset="0"/>
              </a:rPr>
              <a:t> provide overall power consumption insights but do not track individual appliances or offer remote control. </a:t>
            </a:r>
          </a:p>
          <a:p>
            <a:pPr marR="0" lvl="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rPr>
              <a:t>IoT-based home automation systems</a:t>
            </a:r>
            <a:r>
              <a:rPr kumimoji="0" lang="en-US" altLang="en-US" sz="2200" b="0" i="0" u="none" strike="noStrike" cap="none" normalizeH="0" baseline="0" dirty="0">
                <a:ln>
                  <a:noFill/>
                </a:ln>
                <a:solidFill>
                  <a:schemeClr val="tx1"/>
                </a:solidFill>
                <a:effectLst/>
                <a:latin typeface="Arial" panose="020B0604020202020204" pitchFamily="34" charset="0"/>
              </a:rPr>
              <a:t> integrate smart monitoring but are expensive and complex to install.</a:t>
            </a:r>
          </a:p>
          <a:p>
            <a:pPr marR="0" lvl="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Our </a:t>
            </a:r>
            <a:r>
              <a:rPr kumimoji="0" lang="en-US" altLang="en-US" sz="2200" b="1" i="0" u="none" strike="noStrike" cap="none" normalizeH="0" baseline="0" dirty="0">
                <a:ln>
                  <a:noFill/>
                </a:ln>
                <a:solidFill>
                  <a:schemeClr val="tx1"/>
                </a:solidFill>
                <a:effectLst/>
                <a:latin typeface="Arial" panose="020B0604020202020204" pitchFamily="34" charset="0"/>
              </a:rPr>
              <a:t>Smart Electricity Management System</a:t>
            </a:r>
            <a:r>
              <a:rPr kumimoji="0" lang="en-US" altLang="en-US" sz="2200" b="0" i="0" u="none" strike="noStrike" cap="none" normalizeH="0" baseline="0" dirty="0">
                <a:ln>
                  <a:noFill/>
                </a:ln>
                <a:solidFill>
                  <a:schemeClr val="tx1"/>
                </a:solidFill>
                <a:effectLst/>
                <a:latin typeface="Arial" panose="020B0604020202020204" pitchFamily="34" charset="0"/>
              </a:rPr>
              <a:t> overcomes these limitations by offering </a:t>
            </a:r>
            <a:r>
              <a:rPr kumimoji="0" lang="en-US" altLang="en-US" sz="2200" b="1" i="0" u="none" strike="noStrike" cap="none" normalizeH="0" baseline="0" dirty="0">
                <a:ln>
                  <a:noFill/>
                </a:ln>
                <a:solidFill>
                  <a:schemeClr val="tx1"/>
                </a:solidFill>
                <a:effectLst/>
                <a:latin typeface="Arial" panose="020B0604020202020204" pitchFamily="34" charset="0"/>
              </a:rPr>
              <a:t>real-time, appliance-level tracking</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a:ln>
                  <a:noFill/>
                </a:ln>
                <a:solidFill>
                  <a:schemeClr val="tx1"/>
                </a:solidFill>
                <a:effectLst/>
                <a:latin typeface="Arial" panose="020B0604020202020204" pitchFamily="34" charset="0"/>
              </a:rPr>
              <a:t>remote ON/OFF control</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a:ln>
                  <a:noFill/>
                </a:ln>
                <a:solidFill>
                  <a:schemeClr val="tx1"/>
                </a:solidFill>
                <a:effectLst/>
                <a:latin typeface="Arial" panose="020B0604020202020204" pitchFamily="34" charset="0"/>
              </a:rPr>
              <a:t>historical data analysis</a:t>
            </a:r>
            <a:r>
              <a:rPr kumimoji="0" lang="en-US" altLang="en-US" sz="2200" b="0" i="0" u="none" strike="noStrike" cap="none" normalizeH="0" baseline="0" dirty="0">
                <a:ln>
                  <a:noFill/>
                </a:ln>
                <a:solidFill>
                  <a:schemeClr val="tx1"/>
                </a:solidFill>
                <a:effectLst/>
                <a:latin typeface="Arial" panose="020B0604020202020204" pitchFamily="34" charset="0"/>
              </a:rPr>
              <a:t>, and </a:t>
            </a:r>
            <a:r>
              <a:rPr kumimoji="0" lang="en-US" altLang="en-US" sz="2200" b="1" i="0" u="none" strike="noStrike" cap="none" normalizeH="0" baseline="0" dirty="0">
                <a:ln>
                  <a:noFill/>
                </a:ln>
                <a:solidFill>
                  <a:schemeClr val="tx1"/>
                </a:solidFill>
                <a:effectLst/>
                <a:latin typeface="Arial" panose="020B0604020202020204" pitchFamily="34" charset="0"/>
              </a:rPr>
              <a:t>cost estimation</a:t>
            </a:r>
            <a:r>
              <a:rPr kumimoji="0" lang="en-US" altLang="en-US" sz="2200" b="0" i="0" u="none" strike="noStrike" cap="none" normalizeH="0" baseline="0" dirty="0">
                <a:ln>
                  <a:noFill/>
                </a:ln>
                <a:solidFill>
                  <a:schemeClr val="tx1"/>
                </a:solidFill>
                <a:effectLst/>
                <a:latin typeface="Arial" panose="020B0604020202020204" pitchFamily="34" charset="0"/>
              </a:rPr>
              <a:t> in an </a:t>
            </a:r>
            <a:r>
              <a:rPr kumimoji="0" lang="en-US" altLang="en-US" sz="2200" b="1" i="0" u="none" strike="noStrike" cap="none" normalizeH="0" baseline="0" dirty="0">
                <a:ln>
                  <a:noFill/>
                </a:ln>
                <a:solidFill>
                  <a:schemeClr val="tx1"/>
                </a:solidFill>
                <a:effectLst/>
                <a:latin typeface="Arial" panose="020B0604020202020204" pitchFamily="34" charset="0"/>
              </a:rPr>
              <a:t>affordable and user-friendly platform</a:t>
            </a:r>
            <a:r>
              <a:rPr kumimoji="0" lang="en-US" altLang="en-US" sz="2200" b="0" i="0" u="none" strike="noStrike" cap="none" normalizeH="0" baseline="0" dirty="0">
                <a:ln>
                  <a:noFill/>
                </a:ln>
                <a:solidFill>
                  <a:schemeClr val="tx1"/>
                </a:solidFill>
                <a:effectLst/>
                <a:latin typeface="Arial" panose="020B0604020202020204" pitchFamily="34" charset="0"/>
              </a:rPr>
              <a:t>, ensuring efficient and data-driven energy management. </a:t>
            </a:r>
          </a:p>
        </p:txBody>
      </p:sp>
    </p:spTree>
    <p:extLst>
      <p:ext uri="{BB962C8B-B14F-4D97-AF65-F5344CB8AC3E}">
        <p14:creationId xmlns:p14="http://schemas.microsoft.com/office/powerpoint/2010/main" val="1981288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8B73AB-3188-4661-9323-9DCCD1B86CF1}"/>
              </a:ext>
            </a:extLst>
          </p:cNvPr>
          <p:cNvSpPr txBox="1"/>
          <p:nvPr/>
        </p:nvSpPr>
        <p:spPr>
          <a:xfrm>
            <a:off x="1240302" y="1659988"/>
            <a:ext cx="9284677" cy="3908762"/>
          </a:xfrm>
          <a:prstGeom prst="rect">
            <a:avLst/>
          </a:prstGeom>
          <a:noFill/>
        </p:spPr>
        <p:txBody>
          <a:bodyPr wrap="square" rtlCol="0">
            <a:spAutoFit/>
          </a:bodyPr>
          <a:lstStyle/>
          <a:p>
            <a:r>
              <a:rPr lang="en-IN" sz="2300" b="1" dirty="0"/>
              <a:t>1. Mobile Interface:</a:t>
            </a:r>
          </a:p>
          <a:p>
            <a:pPr lvl="1">
              <a:buFont typeface="Arial" panose="020B0604020202020204" pitchFamily="34" charset="0"/>
              <a:buChar char="•"/>
            </a:pPr>
            <a:r>
              <a:rPr lang="en-IN" sz="2300" dirty="0"/>
              <a:t>Implement a responsive design for seamless access on smartphones.</a:t>
            </a:r>
          </a:p>
          <a:p>
            <a:r>
              <a:rPr lang="en-IN" sz="2300" b="1" dirty="0"/>
              <a:t>2. Advanced User Alerts:</a:t>
            </a:r>
          </a:p>
          <a:p>
            <a:pPr lvl="1">
              <a:buFont typeface="Arial" panose="020B0604020202020204" pitchFamily="34" charset="0"/>
              <a:buChar char="•"/>
            </a:pPr>
            <a:r>
              <a:rPr lang="en-IN" sz="2300" dirty="0"/>
              <a:t>Enable SMS notifications for critical usage updates and alerts.</a:t>
            </a:r>
          </a:p>
          <a:p>
            <a:r>
              <a:rPr lang="en-IN" sz="2300" b="1" dirty="0"/>
              <a:t>3. AI-Based Energy Optimization:</a:t>
            </a:r>
          </a:p>
          <a:p>
            <a:pPr lvl="1">
              <a:buFont typeface="Arial" panose="020B0604020202020204" pitchFamily="34" charset="0"/>
              <a:buChar char="•"/>
            </a:pPr>
            <a:r>
              <a:rPr lang="en-IN" sz="2300" dirty="0"/>
              <a:t>Utilize AI to </a:t>
            </a:r>
            <a:r>
              <a:rPr lang="en-IN" sz="2300" dirty="0" err="1"/>
              <a:t>analyze</a:t>
            </a:r>
            <a:r>
              <a:rPr lang="en-IN" sz="2300" dirty="0"/>
              <a:t> consumption patterns and suggest energy-saving actions.</a:t>
            </a:r>
          </a:p>
          <a:p>
            <a:r>
              <a:rPr lang="en-IN" sz="2300" b="1" dirty="0"/>
              <a:t>4. Renewable Energy Integration:</a:t>
            </a:r>
          </a:p>
          <a:p>
            <a:pPr lvl="1">
              <a:buFont typeface="Arial" panose="020B0604020202020204" pitchFamily="34" charset="0"/>
              <a:buChar char="•"/>
            </a:pPr>
            <a:r>
              <a:rPr lang="en-IN" sz="2300" dirty="0"/>
              <a:t>Incorporate solar or other renewable sources to optimize electricity usage.</a:t>
            </a:r>
          </a:p>
          <a:p>
            <a:endParaRPr lang="en-IN" dirty="0"/>
          </a:p>
        </p:txBody>
      </p:sp>
      <p:sp>
        <p:nvSpPr>
          <p:cNvPr id="3" name="TextBox 2">
            <a:extLst>
              <a:ext uri="{FF2B5EF4-FFF2-40B4-BE49-F238E27FC236}">
                <a16:creationId xmlns:a16="http://schemas.microsoft.com/office/drawing/2014/main" id="{BC9BC964-C973-4170-B907-38B7BD614B7E}"/>
              </a:ext>
            </a:extLst>
          </p:cNvPr>
          <p:cNvSpPr txBox="1"/>
          <p:nvPr/>
        </p:nvSpPr>
        <p:spPr>
          <a:xfrm>
            <a:off x="3671668" y="534573"/>
            <a:ext cx="3437206" cy="707886"/>
          </a:xfrm>
          <a:prstGeom prst="rect">
            <a:avLst/>
          </a:prstGeom>
          <a:noFill/>
        </p:spPr>
        <p:txBody>
          <a:bodyPr wrap="square" rtlCol="0">
            <a:spAutoFit/>
          </a:bodyPr>
          <a:lstStyle/>
          <a:p>
            <a:pPr algn="ctr"/>
            <a:r>
              <a:rPr lang="en-IN" sz="4000" b="1" dirty="0"/>
              <a:t>Future Scope</a:t>
            </a:r>
          </a:p>
        </p:txBody>
      </p:sp>
    </p:spTree>
    <p:extLst>
      <p:ext uri="{BB962C8B-B14F-4D97-AF65-F5344CB8AC3E}">
        <p14:creationId xmlns:p14="http://schemas.microsoft.com/office/powerpoint/2010/main" val="3001584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050" y="931986"/>
            <a:ext cx="10131425" cy="949569"/>
          </a:xfrm>
        </p:spPr>
        <p:txBody>
          <a:bodyPr>
            <a:normAutofit/>
          </a:bodyPr>
          <a:lstStyle/>
          <a:p>
            <a:pPr algn="ctr"/>
            <a:r>
              <a:rPr lang="en-US" sz="3800" b="1" dirty="0"/>
              <a:t>CONCLUSION</a:t>
            </a:r>
            <a:endParaRPr lang="en-IN" sz="3800" b="1" dirty="0"/>
          </a:p>
        </p:txBody>
      </p:sp>
      <p:sp>
        <p:nvSpPr>
          <p:cNvPr id="5" name="Rectangle 2">
            <a:extLst>
              <a:ext uri="{FF2B5EF4-FFF2-40B4-BE49-F238E27FC236}">
                <a16:creationId xmlns:a16="http://schemas.microsoft.com/office/drawing/2014/main" id="{CB1D56F4-3483-41B9-AF58-1EE19C2D2443}"/>
              </a:ext>
            </a:extLst>
          </p:cNvPr>
          <p:cNvSpPr>
            <a:spLocks noGrp="1" noChangeArrowheads="1"/>
          </p:cNvSpPr>
          <p:nvPr>
            <p:ph idx="1"/>
          </p:nvPr>
        </p:nvSpPr>
        <p:spPr bwMode="auto">
          <a:xfrm>
            <a:off x="648042" y="2197893"/>
            <a:ext cx="10895916"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The </a:t>
            </a:r>
            <a:r>
              <a:rPr kumimoji="0" lang="en-US" altLang="en-US" sz="2200" b="1" i="0" u="none" strike="noStrike" cap="none" normalizeH="0" baseline="0" dirty="0">
                <a:ln>
                  <a:noFill/>
                </a:ln>
                <a:solidFill>
                  <a:schemeClr val="tx1"/>
                </a:solidFill>
                <a:effectLst/>
                <a:latin typeface="Arial" panose="020B0604020202020204" pitchFamily="34" charset="0"/>
              </a:rPr>
              <a:t>Smart Electricity Management System</a:t>
            </a:r>
            <a:r>
              <a:rPr kumimoji="0" lang="en-US" altLang="en-US" sz="2200" b="0" i="0" u="none" strike="noStrike" cap="none" normalizeH="0" baseline="0" dirty="0">
                <a:ln>
                  <a:noFill/>
                </a:ln>
                <a:solidFill>
                  <a:schemeClr val="tx1"/>
                </a:solidFill>
                <a:effectLst/>
                <a:latin typeface="Arial" panose="020B0604020202020204" pitchFamily="34" charset="0"/>
              </a:rPr>
              <a:t> enables real-time monitoring and analysis of electricity consumption, integrating </a:t>
            </a:r>
            <a:r>
              <a:rPr kumimoji="0" lang="en-US" altLang="en-US" sz="2200" b="1" i="0" u="none" strike="noStrike" cap="none" normalizeH="0" baseline="0" dirty="0">
                <a:ln>
                  <a:noFill/>
                </a:ln>
                <a:solidFill>
                  <a:schemeClr val="tx1"/>
                </a:solidFill>
                <a:effectLst/>
                <a:latin typeface="Arial" panose="020B0604020202020204" pitchFamily="34" charset="0"/>
              </a:rPr>
              <a:t>ESP32, current sensors, and Firebase</a:t>
            </a:r>
            <a:r>
              <a:rPr kumimoji="0" lang="en-US" altLang="en-US" sz="2200" b="0" i="0" u="none" strike="noStrike" cap="none" normalizeH="0" baseline="0" dirty="0">
                <a:ln>
                  <a:noFill/>
                </a:ln>
                <a:solidFill>
                  <a:schemeClr val="tx1"/>
                </a:solidFill>
                <a:effectLst/>
                <a:latin typeface="Arial" panose="020B0604020202020204" pitchFamily="34" charset="0"/>
              </a:rPr>
              <a:t> with a user-friendly </a:t>
            </a:r>
            <a:r>
              <a:rPr kumimoji="0" lang="en-US" altLang="en-US" sz="2200" b="1" i="0" u="none" strike="noStrike" cap="none" normalizeH="0" baseline="0" dirty="0">
                <a:ln>
                  <a:noFill/>
                </a:ln>
                <a:solidFill>
                  <a:schemeClr val="tx1"/>
                </a:solidFill>
                <a:effectLst/>
                <a:latin typeface="Arial" panose="020B0604020202020204" pitchFamily="34" charset="0"/>
              </a:rPr>
              <a:t>web interface</a:t>
            </a:r>
            <a:r>
              <a:rPr kumimoji="0" lang="en-US" altLang="en-US" sz="2200" b="0" i="0" u="none" strike="noStrike" cap="none" normalizeH="0" baseline="0" dirty="0">
                <a:ln>
                  <a:noFill/>
                </a:ln>
                <a:solidFill>
                  <a:schemeClr val="tx1"/>
                </a:solidFill>
                <a:effectLst/>
                <a:latin typeface="Arial" panose="020B0604020202020204" pitchFamily="34" charset="0"/>
              </a:rPr>
              <a:t>. It provides accurate energy usage data, cost calculations, and appliance control, helping users </a:t>
            </a:r>
            <a:r>
              <a:rPr kumimoji="0" lang="en-US" altLang="en-US" sz="2200" b="1" i="0" u="none" strike="noStrike" cap="none" normalizeH="0" baseline="0" dirty="0">
                <a:ln>
                  <a:noFill/>
                </a:ln>
                <a:solidFill>
                  <a:schemeClr val="tx1"/>
                </a:solidFill>
                <a:effectLst/>
                <a:latin typeface="Arial" panose="020B0604020202020204" pitchFamily="34" charset="0"/>
              </a:rPr>
              <a:t>track, analyze, and optimize power consumption</a:t>
            </a:r>
            <a:r>
              <a:rPr kumimoji="0" lang="en-US" altLang="en-US" sz="2200" b="0" i="0" u="none" strike="noStrike" cap="none" normalizeH="0" baseline="0" dirty="0">
                <a:ln>
                  <a:noFill/>
                </a:ln>
                <a:solidFill>
                  <a:schemeClr val="tx1"/>
                </a:solidFill>
                <a:effectLst/>
                <a:latin typeface="Arial" panose="020B0604020202020204" pitchFamily="34" charset="0"/>
              </a:rPr>
              <a:t>. With features like </a:t>
            </a:r>
            <a:r>
              <a:rPr kumimoji="0" lang="en-US" altLang="en-US" sz="2200" b="1" i="0" u="none" strike="noStrike" cap="none" normalizeH="0" baseline="0" dirty="0">
                <a:ln>
                  <a:noFill/>
                </a:ln>
                <a:solidFill>
                  <a:schemeClr val="tx1"/>
                </a:solidFill>
                <a:effectLst/>
                <a:latin typeface="Arial" panose="020B0604020202020204" pitchFamily="34" charset="0"/>
              </a:rPr>
              <a:t>historical data access, notifications, and future AI-based energy optimization</a:t>
            </a:r>
            <a:r>
              <a:rPr kumimoji="0" lang="en-US" altLang="en-US" sz="2200" b="0" i="0" u="none" strike="noStrike" cap="none" normalizeH="0" baseline="0" dirty="0">
                <a:ln>
                  <a:noFill/>
                </a:ln>
                <a:solidFill>
                  <a:schemeClr val="tx1"/>
                </a:solidFill>
                <a:effectLst/>
                <a:latin typeface="Arial" panose="020B0604020202020204" pitchFamily="34" charset="0"/>
              </a:rPr>
              <a:t>, the system enhances efficiency, reduces wastage, and promotes </a:t>
            </a:r>
            <a:r>
              <a:rPr kumimoji="0" lang="en-US" altLang="en-US" sz="2200" b="1" i="0" u="none" strike="noStrike" cap="none" normalizeH="0" baseline="0" dirty="0">
                <a:ln>
                  <a:noFill/>
                </a:ln>
                <a:solidFill>
                  <a:schemeClr val="tx1"/>
                </a:solidFill>
                <a:effectLst/>
                <a:latin typeface="Arial" panose="020B0604020202020204" pitchFamily="34" charset="0"/>
              </a:rPr>
              <a:t>sustainable energy management</a:t>
            </a:r>
            <a:r>
              <a:rPr kumimoji="0" lang="en-US" altLang="en-US" sz="2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0555783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2.XML" val="2782954188"/>
  <p:tag name="PPT/SLIDES/SLIDE3.XML" val="1337049143"/>
  <p:tag name="PPT/SLIDES/SLIDE4.XML" val="1025053469"/>
  <p:tag name="PPT/SLIDES/SLIDE1.XML" val="2891246266"/>
  <p:tag name="PPT/SLIDES/SLIDE5.XML" val="856133865"/>
  <p:tag name="PPT/SLIDES/SLIDE7.XML" val="1087605443"/>
  <p:tag name="PPT/SLIDES/SLIDE8.XML" val="380877848"/>
  <p:tag name="PPT/SLIDES/SLIDE6.XML" val="4250982257"/>
  <p:tag name="PPT/SLIDEMASTERS/SLIDEMASTER1.XML" val="3859562211"/>
  <p:tag name="PPT/SLIDELAYOUTS/SLIDELAYOUT2.XML" val="2255808666"/>
  <p:tag name="PPT/SLIDELAYOUTS/SLIDELAYOUT11.XML" val="2121933261"/>
  <p:tag name="PPT/SLIDELAYOUTS/SLIDELAYOUT10.XML" val="2770014090"/>
  <p:tag name="PPT/SLIDELAYOUTS/SLIDELAYOUT9.XML" val="545334997"/>
  <p:tag name="PPT/SLIDELAYOUTS/SLIDELAYOUT8.XML" val="3129095996"/>
  <p:tag name="PPT/SLIDELAYOUTS/SLIDELAYOUT7.XML" val="2700513697"/>
  <p:tag name="PPT/SLIDELAYOUTS/SLIDELAYOUT6.XML" val="50437999"/>
  <p:tag name="PPT/SLIDELAYOUTS/SLIDELAYOUT5.XML" val="216476008"/>
  <p:tag name="PPT/SLIDELAYOUTS/SLIDELAYOUT4.XML" val="3407142597"/>
  <p:tag name="PPT/SLIDELAYOUTS/SLIDELAYOUT3.XML" val="493079164"/>
  <p:tag name="PPT/SLIDELAYOUTS/SLIDELAYOUT12.XML" val="2666887863"/>
  <p:tag name="PPT/SLIDELAYOUTS/SLIDELAYOUT13.XML" val="651544431"/>
  <p:tag name="PPT/SLIDELAYOUTS/SLIDELAYOUT14.XML" val="3741830287"/>
  <p:tag name="PPT/SLIDELAYOUTS/SLIDELAYOUT17.XML" val="3155532188"/>
  <p:tag name="PPT/SLIDELAYOUTS/SLIDELAYOUT16.XML" val="2829955823"/>
  <p:tag name="PPT/SLIDELAYOUTS/SLIDELAYOUT1.XML" val="3277109822"/>
  <p:tag name="PPT/SLIDELAYOUTS/SLIDELAYOUT15.XML" val="85819158"/>
  <p:tag name="PPT/THEME/THEME1.XML" val="223840850"/>
  <p:tag name="PPT/MEDIA/IMAGE1.JPEG" val="3496516441"/>
  <p:tag name="PPT/MEDIA/IMAGE2.PNG" val="3955317600"/>
  <p:tag name="PPT/MEDIA/IMAGE3.PNG" val="429434641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191</TotalTime>
  <Words>911</Words>
  <Application>Microsoft Office PowerPoint</Application>
  <PresentationFormat>Widescreen</PresentationFormat>
  <Paragraphs>93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Unicode MS</vt:lpstr>
      <vt:lpstr>Calibri</vt:lpstr>
      <vt:lpstr>Calibri Light</vt:lpstr>
      <vt:lpstr>Wingdings</vt:lpstr>
      <vt:lpstr>Celestial</vt:lpstr>
      <vt:lpstr>INTRODUCTION</vt:lpstr>
      <vt:lpstr>Hardware Components Used</vt:lpstr>
      <vt:lpstr>PowerPoint Presentation</vt:lpstr>
      <vt:lpstr>PowerPoint Presentation</vt:lpstr>
      <vt:lpstr>PowerPoint Presentation</vt:lpstr>
      <vt:lpstr>Database Design</vt:lpstr>
      <vt:lpstr>Detailed Database Structure</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electricity management system</dc:title>
  <cp:lastModifiedBy>Paul Ouseph</cp:lastModifiedBy>
  <cp:revision>20</cp:revision>
  <dcterms:modified xsi:type="dcterms:W3CDTF">2025-04-14T16:13:33Z</dcterms:modified>
</cp:coreProperties>
</file>